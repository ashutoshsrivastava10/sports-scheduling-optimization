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2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71" r:id="rId13"/>
    <p:sldId id="268" r:id="rId14"/>
    <p:sldId id="264" r:id="rId15"/>
    <p:sldId id="269" r:id="rId16"/>
  </p:sldIdLst>
  <p:sldSz cx="12192000" cy="6858000"/>
  <p:notesSz cx="6858000" cy="12192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8" roundtripDataSignature="AMtx7mhf4RzXJRQw49omZEDI5k8y4OU5w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734"/>
    <p:restoredTop sz="74966"/>
  </p:normalViewPr>
  <p:slideViewPr>
    <p:cSldViewPr snapToGrid="0">
      <p:cViewPr>
        <p:scale>
          <a:sx n="120" d="100"/>
          <a:sy n="120" d="100"/>
        </p:scale>
        <p:origin x="936" y="-5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Miles</c:v>
                </c:pt>
              </c:strCache>
            </c:strRef>
          </c:tx>
          <c:spPr>
            <a:solidFill>
              <a:srgbClr val="1D4ED8"/>
            </a:solidFill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CAN</c:v>
                </c:pt>
                <c:pt idx="1">
                  <c:v>FIJ</c:v>
                </c:pt>
                <c:pt idx="2">
                  <c:v>RUS</c:v>
                </c:pt>
                <c:pt idx="3">
                  <c:v>SWE</c:v>
                </c:pt>
                <c:pt idx="4">
                  <c:v>TAH</c:v>
                </c:pt>
                <c:pt idx="5">
                  <c:v>ARG</c:v>
                </c:pt>
                <c:pt idx="6">
                  <c:v>CHI</c:v>
                </c:pt>
                <c:pt idx="7">
                  <c:v>ICE</c:v>
                </c:pt>
                <c:pt idx="8">
                  <c:v>AUS</c:v>
                </c:pt>
                <c:pt idx="9">
                  <c:v>JAP</c:v>
                </c:pt>
                <c:pt idx="10">
                  <c:v>ANT</c:v>
                </c:pt>
                <c:pt idx="11">
                  <c:v>DEN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3565</c:v>
                </c:pt>
                <c:pt idx="1">
                  <c:v>3451</c:v>
                </c:pt>
                <c:pt idx="2">
                  <c:v>3224</c:v>
                </c:pt>
                <c:pt idx="3">
                  <c:v>3128</c:v>
                </c:pt>
                <c:pt idx="4">
                  <c:v>3024</c:v>
                </c:pt>
                <c:pt idx="5">
                  <c:v>2845</c:v>
                </c:pt>
                <c:pt idx="6">
                  <c:v>2832</c:v>
                </c:pt>
                <c:pt idx="7">
                  <c:v>2734</c:v>
                </c:pt>
                <c:pt idx="8">
                  <c:v>2632</c:v>
                </c:pt>
                <c:pt idx="9">
                  <c:v>2618</c:v>
                </c:pt>
                <c:pt idx="10">
                  <c:v>2557</c:v>
                </c:pt>
                <c:pt idx="11">
                  <c:v>2515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135-EC47-8A07-8DED0748D4F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80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spend ($M)</c:v>
                </c:pt>
              </c:strCache>
            </c:strRef>
          </c:tx>
          <c:spPr>
            <a:solidFill>
              <a:srgbClr val="0EA5E9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$200/mi</c:v>
                </c:pt>
                <c:pt idx="1">
                  <c:v>$300/mi</c:v>
                </c:pt>
                <c:pt idx="2">
                  <c:v>$400/mi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7.03</c:v>
                </c:pt>
                <c:pt idx="1">
                  <c:v>10.54</c:v>
                </c:pt>
                <c:pt idx="2">
                  <c:v>14.05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E11-F24F-8CE7-D7A4E28F59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5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/>
            </a:br>
            <a:r>
              <a:rPr lang="en-US"/>
              <a:t>[Sources]</a:t>
            </a:r>
            <a:br>
              <a:rPr lang="en-US"/>
            </a:br>
            <a:r>
              <a:rPr lang="en-US"/>
              <a:t>- Gurobi overview of MIP solution approach (branch-and-bound/branch-and-cut): https://www.gurobi.com/resources/mixed-integer-programming-mip-a-primer-on-the-basics/ (accessed 2026-02-18)</a:t>
            </a:r>
            <a:br>
              <a:rPr lang="en-US"/>
            </a:br>
            <a:r>
              <a:rPr lang="en-US"/>
              <a:t>[/Sources]</a:t>
            </a:r>
            <a:br>
              <a:rPr lang="en-US"/>
            </a:br>
            <a:r>
              <a:rPr lang="en-US"/>
              <a:t>  </a:t>
            </a: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" name="Google Shape;25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c92a3a52e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c92a3a52e4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g3c92a3a52e4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" name="Google Shape;60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c92a3a52e4_0_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c92a3a52e4_0_6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g3c92a3a52e4_0_6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/>
            </a:br>
            <a:r>
              <a:rPr lang="en-US"/>
              <a:t>[Sources]</a:t>
            </a:r>
            <a:br>
              <a:rPr lang="en-US"/>
            </a:br>
            <a:r>
              <a:rPr lang="en-US"/>
              <a:t>- Gurobi primer describing LP-based branch-and-bound approach for MIP: https://www.gurobi.com/resources/mixed-integer-programming-mip-a-primer-on-the-basics/ (accessed 2026-02-18)</a:t>
            </a:r>
            <a:br>
              <a:rPr lang="en-US"/>
            </a:br>
            <a:r>
              <a:rPr lang="en-US"/>
              <a:t>[/Sources]</a:t>
            </a:r>
            <a:br>
              <a:rPr lang="en-US"/>
            </a:br>
            <a:r>
              <a:rPr lang="en-US"/>
              <a:t>  </a:t>
            </a:r>
            <a:endParaRPr/>
          </a:p>
        </p:txBody>
      </p:sp>
      <p:sp>
        <p:nvSpPr>
          <p:cNvPr id="133" name="Google Shape;133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9" name="Google Shape;179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c92a3a52e4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c92a3a52e4_0_5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g3c92a3a52e4_0_5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7" name="Google Shape;227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>
          <a:extLst>
            <a:ext uri="{FF2B5EF4-FFF2-40B4-BE49-F238E27FC236}">
              <a16:creationId xmlns:a16="http://schemas.microsoft.com/office/drawing/2014/main" id="{32021FAF-541B-EC24-B498-5885EC0E7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c92a3a52e4_0_50:notes">
            <a:extLst>
              <a:ext uri="{FF2B5EF4-FFF2-40B4-BE49-F238E27FC236}">
                <a16:creationId xmlns:a16="http://schemas.microsoft.com/office/drawing/2014/main" id="{A824DB78-4C97-68B3-04E7-7848BC3738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c92a3a52e4_0_50:notes">
            <a:extLst>
              <a:ext uri="{FF2B5EF4-FFF2-40B4-BE49-F238E27FC236}">
                <a16:creationId xmlns:a16="http://schemas.microsoft.com/office/drawing/2014/main" id="{C0BB36AF-AD15-47B6-B6EC-4D15483823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sz="1200" dirty="0" err="1">
                <a:solidFill>
                  <a:srgbClr val="374151"/>
                </a:solidFill>
                <a:latin typeface="Calibri"/>
                <a:cs typeface="Calibri"/>
              </a:rPr>
              <a:t>Presolve</a:t>
            </a:r>
            <a:r>
              <a:rPr lang="en-US" sz="1200" dirty="0">
                <a:solidFill>
                  <a:srgbClr val="374151"/>
                </a:solidFill>
                <a:latin typeface="Calibri"/>
                <a:cs typeface="Calibri"/>
              </a:rPr>
              <a:t> (solver simplification before branching): </a:t>
            </a:r>
            <a:r>
              <a:rPr lang="en-US" sz="1200" dirty="0" err="1">
                <a:solidFill>
                  <a:srgbClr val="374151"/>
                </a:solidFill>
                <a:latin typeface="Calibri"/>
                <a:cs typeface="Calibri"/>
              </a:rPr>
              <a:t>Gurobi</a:t>
            </a:r>
            <a:r>
              <a:rPr lang="en-US" sz="1200" dirty="0">
                <a:solidFill>
                  <a:srgbClr val="374151"/>
                </a:solidFill>
                <a:latin typeface="Calibri"/>
                <a:cs typeface="Calibri"/>
              </a:rPr>
              <a:t> removed 28 rows and 24 columns, reducing it to 351 rows, 1262 integer vars. This means it found redundancies/fixed variables early, which speeds up the solve.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dirty="0"/>
            </a:b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7" name="Google Shape;217;g3c92a3a52e4_0_50:notes">
            <a:extLst>
              <a:ext uri="{FF2B5EF4-FFF2-40B4-BE49-F238E27FC236}">
                <a16:creationId xmlns:a16="http://schemas.microsoft.com/office/drawing/2014/main" id="{32CD2651-352A-E604-2D14-FC8AC120EF2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7985202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0" name="Google Shape;280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dirty="0"/>
          </a:p>
        </p:txBody>
      </p:sp>
      <p:sp>
        <p:nvSpPr>
          <p:cNvPr id="281" name="Google Shape;281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7" name="Google Shape;157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/>
            </a:br>
            <a:r>
              <a:rPr lang="en-US"/>
              <a:t>[Sources]</a:t>
            </a:r>
            <a:br>
              <a:rPr lang="en-US"/>
            </a:br>
            <a:r>
              <a:rPr lang="en-US"/>
              <a:t>- Gurobi FAQ noting MIP solvers typically use branch-and-cut: https://www.gurobi.com/faqs/mip-solvers/ (accessed 2026-02-18)</a:t>
            </a:r>
            <a:br>
              <a:rPr lang="en-US"/>
            </a:br>
            <a:r>
              <a:rPr lang="en-US"/>
              <a:t>[/Sources]</a:t>
            </a:r>
            <a:br>
              <a:rPr lang="en-US"/>
            </a:br>
            <a:r>
              <a:rPr lang="en-US"/>
              <a:t>  </a:t>
            </a:r>
            <a:endParaRPr/>
          </a:p>
        </p:txBody>
      </p:sp>
      <p:sp>
        <p:nvSpPr>
          <p:cNvPr id="158" name="Google Shape;158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>
          <a:extLst>
            <a:ext uri="{FF2B5EF4-FFF2-40B4-BE49-F238E27FC236}">
              <a16:creationId xmlns:a16="http://schemas.microsoft.com/office/drawing/2014/main" id="{AA7E9354-1FC9-A277-D86D-C9851B75BC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:notes">
            <a:extLst>
              <a:ext uri="{FF2B5EF4-FFF2-40B4-BE49-F238E27FC236}">
                <a16:creationId xmlns:a16="http://schemas.microsoft.com/office/drawing/2014/main" id="{22D14331-6B33-0B7F-D649-7A56B6DE4D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7" name="Google Shape;157;p7:notes">
            <a:extLst>
              <a:ext uri="{FF2B5EF4-FFF2-40B4-BE49-F238E27FC236}">
                <a16:creationId xmlns:a16="http://schemas.microsoft.com/office/drawing/2014/main" id="{D4969796-D0DC-DD1A-06CF-9FF90C1AF93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/>
            </a:br>
            <a:r>
              <a:rPr lang="en-US"/>
              <a:t>[Sources]</a:t>
            </a:r>
            <a:br>
              <a:rPr lang="en-US"/>
            </a:br>
            <a:r>
              <a:rPr lang="en-US"/>
              <a:t>- Gurobi FAQ noting MIP solvers typically use branch-and-cut: https://www.gurobi.com/faqs/mip-solvers/ (accessed 2026-02-18)</a:t>
            </a:r>
            <a:br>
              <a:rPr lang="en-US"/>
            </a:br>
            <a:r>
              <a:rPr lang="en-US"/>
              <a:t>[/Sources]</a:t>
            </a:r>
            <a:br>
              <a:rPr lang="en-US"/>
            </a:br>
            <a:r>
              <a:rPr lang="en-US"/>
              <a:t>  </a:t>
            </a:r>
            <a:endParaRPr/>
          </a:p>
        </p:txBody>
      </p:sp>
      <p:sp>
        <p:nvSpPr>
          <p:cNvPr id="158" name="Google Shape;158;p7:notes">
            <a:extLst>
              <a:ext uri="{FF2B5EF4-FFF2-40B4-BE49-F238E27FC236}">
                <a16:creationId xmlns:a16="http://schemas.microsoft.com/office/drawing/2014/main" id="{A410460A-23F4-0768-B2DE-AB00432AC09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518215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D4ED8"/>
          </a:solidFill>
          <a:ln w="12700" cap="flat" cmpd="sng">
            <a:solidFill>
              <a:srgbClr val="1D4E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822960" y="1417320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4000"/>
              <a:buFont typeface="Calibri"/>
              <a:buNone/>
            </a:pPr>
            <a:r>
              <a:rPr lang="en-US" sz="400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Sports Scheduling Optimization</a:t>
            </a:r>
            <a:endParaRPr sz="4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841248" y="214884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600"/>
              <a:buFont typeface="Calibri"/>
              <a:buNone/>
            </a:pPr>
            <a:r>
              <a:rPr lang="en-US" sz="160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Worldwide Softball League (WSL) • MILP + Gurobi • Travel + Fairness + Broadcast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822960" y="2926080"/>
            <a:ext cx="10607040" cy="210312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  <a:effectLst>
            <a:outerShdw blurRad="25400" dist="12700" dir="27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1143000" y="3154680"/>
            <a:ext cx="10058400" cy="1691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600"/>
              <a:buFont typeface="Calibri"/>
              <a:buNone/>
            </a:pPr>
            <a:r>
              <a:rPr lang="en-US" sz="1600" b="1" dirty="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Background: </a:t>
            </a:r>
            <a:r>
              <a:rPr lang="en-US" sz="1600" dirty="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Multi million-dollar international leagues use these techniques to solve scheduling problem</a:t>
            </a:r>
            <a:endParaRPr sz="1600" dirty="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600"/>
              <a:buFont typeface="Calibri"/>
              <a:buNone/>
            </a:pPr>
            <a:r>
              <a:rPr lang="en-US" sz="1600" b="1" i="0" u="none" strike="noStrike" cap="none" dirty="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Key idea:</a:t>
            </a:r>
            <a:r>
              <a:rPr lang="en-US" sz="1600" b="0" i="0" u="none" strike="noStrike" cap="none" dirty="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 Convert </a:t>
            </a:r>
            <a:r>
              <a:rPr lang="en-US" sz="1600" dirty="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V</a:t>
            </a:r>
            <a:r>
              <a:rPr lang="en-US" sz="1600" b="0" i="0" u="none" strike="noStrike" cap="none" dirty="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ague league rules into a solvable MILP and quantify impact. </a:t>
            </a:r>
            <a:br>
              <a:rPr lang="en-US" sz="1600" b="0" i="0" u="none" strike="noStrike" cap="none" dirty="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00" b="1" i="0" u="none" strike="noStrike" cap="none" dirty="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Output:</a:t>
            </a:r>
            <a:r>
              <a:rPr lang="en-US" sz="1600" b="0" i="0" u="none" strike="noStrike" cap="none" dirty="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 validated 9-week schedule + travel / fairness KPIs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841248" y="608076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Ashutosh Srivastava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9875520" y="608076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Feb 2026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2"/>
          <p:cNvSpPr/>
          <p:nvPr/>
        </p:nvSpPr>
        <p:spPr>
          <a:xfrm>
            <a:off x="640080" y="109728"/>
            <a:ext cx="86868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1) Business problem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640080" y="402336"/>
            <a:ext cx="9601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Global travel is expensive</a:t>
            </a:r>
            <a:r>
              <a:rPr lang="en-US" sz="12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lang="en-US" sz="12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 schedule quality affects cost, fairness, and TV revenue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2"/>
          <p:cNvSpPr/>
          <p:nvPr/>
        </p:nvSpPr>
        <p:spPr>
          <a:xfrm>
            <a:off x="640080" y="6601968"/>
            <a:ext cx="10911535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WSL Scheduling • Slide 2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640080" y="86868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What the league wants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640080" y="1417320"/>
            <a:ext cx="3611880" cy="146304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  <a:effectLst>
            <a:outerShdw blurRad="25400" dist="12700" dir="27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2"/>
          <p:cNvSpPr/>
          <p:nvPr/>
        </p:nvSpPr>
        <p:spPr>
          <a:xfrm>
            <a:off x="640080" y="1417320"/>
            <a:ext cx="3611880" cy="109728"/>
          </a:xfrm>
          <a:prstGeom prst="rect">
            <a:avLst/>
          </a:prstGeom>
          <a:solidFill>
            <a:srgbClr val="1D4ED8"/>
          </a:solidFill>
          <a:ln w="12700" cap="flat" cmpd="sng">
            <a:solidFill>
              <a:srgbClr val="1D4E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2"/>
          <p:cNvSpPr/>
          <p:nvPr/>
        </p:nvSpPr>
        <p:spPr>
          <a:xfrm>
            <a:off x="868680" y="1618488"/>
            <a:ext cx="31546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Lower travel spend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914400" y="1984248"/>
            <a:ext cx="310896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Calibri"/>
              <a:buChar char="•"/>
            </a:pPr>
            <a:r>
              <a:rPr lang="en-US" sz="120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Teams spread worldwide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Calibri"/>
              <a:buChar char="•"/>
            </a:pPr>
            <a:r>
              <a:rPr lang="en-US" sz="120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Minimize away-trip miles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Calibri"/>
              <a:buChar char="•"/>
            </a:pPr>
            <a:r>
              <a:rPr lang="en-US" sz="120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Avoid long road stretches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4572000" y="1417320"/>
            <a:ext cx="3611880" cy="146304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  <a:effectLst>
            <a:outerShdw blurRad="25400" dist="12700" dir="27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4572000" y="1417320"/>
            <a:ext cx="3611880" cy="109728"/>
          </a:xfrm>
          <a:prstGeom prst="rect">
            <a:avLst/>
          </a:prstGeom>
          <a:solidFill>
            <a:srgbClr val="0EA5E9"/>
          </a:solidFill>
          <a:ln w="12700" cap="flat" cmpd="sng">
            <a:solidFill>
              <a:srgbClr val="0EA5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4800600" y="1618488"/>
            <a:ext cx="31546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Balanced schedules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4846320" y="1984248"/>
            <a:ext cx="310896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Calibri"/>
              <a:buChar char="•"/>
            </a:pPr>
            <a:r>
              <a:rPr lang="en-US" sz="120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No “easy” vs “brutal” travel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Calibri"/>
              <a:buChar char="•"/>
            </a:pPr>
            <a:r>
              <a:rPr lang="en-US" sz="120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Keep travel distribution tight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Calibri"/>
              <a:buChar char="•"/>
            </a:pPr>
            <a:r>
              <a:rPr lang="en-US" sz="120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Prevent bad start/end patterns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8503920" y="1417320"/>
            <a:ext cx="3611880" cy="146304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  <a:effectLst>
            <a:outerShdw blurRad="25400" dist="12700" dir="27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8503920" y="1417320"/>
            <a:ext cx="3611880" cy="109728"/>
          </a:xfrm>
          <a:prstGeom prst="rect">
            <a:avLst/>
          </a:prstGeom>
          <a:solidFill>
            <a:srgbClr val="7C3AED"/>
          </a:solidFill>
          <a:ln w="1270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8732520" y="1618488"/>
            <a:ext cx="31546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Maximize TV weeks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8778240" y="1984248"/>
            <a:ext cx="310896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Calibri"/>
              <a:buChar char="•"/>
            </a:pPr>
            <a:r>
              <a:rPr lang="en-US" sz="1200" b="0" i="0" u="none" strike="noStrike" cap="none" dirty="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4 marquee matchups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Calibri"/>
              <a:buChar char="•"/>
            </a:pPr>
            <a:r>
              <a:rPr lang="en-US" sz="1200" b="0" i="0" u="none" strike="noStrike" cap="none" dirty="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No two in the same week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Calibri"/>
              <a:buChar char="•"/>
            </a:pPr>
            <a:r>
              <a:rPr lang="en-US" sz="1200" b="0" i="0" u="none" strike="noStrike" cap="none" dirty="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Keeps weekly headline game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640080" y="3246120"/>
            <a:ext cx="10927080" cy="3017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822960" y="3429000"/>
            <a:ext cx="2103120" cy="365760"/>
          </a:xfrm>
          <a:prstGeom prst="roundRect">
            <a:avLst>
              <a:gd name="adj" fmla="val 16667"/>
            </a:avLst>
          </a:prstGeom>
          <a:solidFill>
            <a:srgbClr val="1D4ED8"/>
          </a:solidFill>
          <a:ln w="12700" cap="flat" cmpd="sng">
            <a:solidFill>
              <a:srgbClr val="1D4E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822960" y="3502152"/>
            <a:ext cx="21031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WSL setup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868680" y="3886200"/>
            <a:ext cx="10607040" cy="2194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Char char="•"/>
            </a:pPr>
            <a:r>
              <a:rPr lang="en-US" sz="1500" b="0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12 teams, split into 2 divisions (North/South)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Char char="•"/>
            </a:pPr>
            <a:r>
              <a:rPr lang="en-US" sz="1500" b="0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9-week season: each team plays 8 games (4 home, 4 away) + 1 bye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Char char="•"/>
            </a:pPr>
            <a:r>
              <a:rPr lang="en-US" sz="1500" b="0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Play everyone in-division once (5 games) + 3 cross-division opponents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Char char="•"/>
            </a:pPr>
            <a:r>
              <a:rPr lang="en-US" sz="1500" b="0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Hard pattern rules: limit back-to-back </a:t>
            </a:r>
            <a:r>
              <a:rPr lang="en-US" sz="15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away</a:t>
            </a:r>
            <a:r>
              <a:rPr lang="en-US" sz="1500" b="0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 games to 0 or 1 and avoid bad start/end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c92a3a52e4_0_0"/>
          <p:cNvSpPr txBox="1"/>
          <p:nvPr/>
        </p:nvSpPr>
        <p:spPr>
          <a:xfrm>
            <a:off x="435425" y="77750"/>
            <a:ext cx="11305500" cy="12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Char char="•"/>
            </a:pPr>
            <a:r>
              <a:rPr lang="en-US" sz="2900" b="1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Goal</a:t>
            </a:r>
            <a:r>
              <a:rPr lang="en-US" sz="2950">
                <a:solidFill>
                  <a:schemeClr val="dk1"/>
                </a:solidFill>
              </a:rPr>
              <a:t>:</a:t>
            </a:r>
            <a:r>
              <a:rPr lang="en-US" sz="4450">
                <a:solidFill>
                  <a:schemeClr val="dk1"/>
                </a:solidFill>
              </a:rPr>
              <a:t> </a:t>
            </a:r>
            <a:r>
              <a:rPr lang="en-US" sz="27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Minimize total travel while ensuring fairness and broadcast requirements.</a:t>
            </a:r>
            <a:endParaRPr sz="4150">
              <a:solidFill>
                <a:schemeClr val="dk1"/>
              </a:solidFill>
            </a:endParaRPr>
          </a:p>
        </p:txBody>
      </p:sp>
      <p:sp>
        <p:nvSpPr>
          <p:cNvPr id="56" name="Google Shape;56;g3c92a3a52e4_0_0"/>
          <p:cNvSpPr/>
          <p:nvPr/>
        </p:nvSpPr>
        <p:spPr>
          <a:xfrm>
            <a:off x="640075" y="1415153"/>
            <a:ext cx="10927200" cy="48483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7" name="Google Shape;57;g3c92a3a52e4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5175" y="1722300"/>
            <a:ext cx="9688302" cy="4234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3"/>
          <p:cNvSpPr/>
          <p:nvPr/>
        </p:nvSpPr>
        <p:spPr>
          <a:xfrm>
            <a:off x="640080" y="109728"/>
            <a:ext cx="86868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2) Inputs and output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640080" y="402336"/>
            <a:ext cx="9601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Distance matrix + league rules → validated schedule file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3"/>
          <p:cNvSpPr/>
          <p:nvPr/>
        </p:nvSpPr>
        <p:spPr>
          <a:xfrm>
            <a:off x="640080" y="6601968"/>
            <a:ext cx="10911535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WSL Scheduling • Slide 3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640080" y="914400"/>
            <a:ext cx="5669280" cy="539496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  <a:effectLst>
            <a:outerShdw blurRad="25400" dist="12700" dir="27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3"/>
          <p:cNvSpPr/>
          <p:nvPr/>
        </p:nvSpPr>
        <p:spPr>
          <a:xfrm>
            <a:off x="960120" y="109728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Inputs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960120" y="1508760"/>
            <a:ext cx="5303520" cy="210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03200" marR="0" lvl="0" indent="-20320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00"/>
              <a:buFont typeface="Calibri"/>
              <a:buChar char="•"/>
            </a:pPr>
            <a:r>
              <a:rPr lang="en-US" sz="130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• Team list + division membership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3200" marR="0" lvl="0" indent="-20320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00"/>
              <a:buFont typeface="Calibri"/>
              <a:buChar char="•"/>
            </a:pPr>
            <a:r>
              <a:rPr lang="en-US" sz="130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• 9 weeks</a:t>
            </a:r>
            <a:r>
              <a:rPr lang="en-US" sz="13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lang="en-US" sz="130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 one game max per team per week</a:t>
            </a:r>
            <a:endParaRPr sz="1300">
              <a:solidFill>
                <a:srgbClr val="37415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3200" marR="0" lvl="0" indent="-20320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00"/>
              <a:buFont typeface="Calibri"/>
              <a:buChar char="•"/>
            </a:pPr>
            <a:r>
              <a:rPr lang="en-US" sz="130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• Distance matrix between home cities (miles)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3200" marR="0" lvl="0" indent="-20320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00"/>
              <a:buFont typeface="Calibri"/>
              <a:buChar char="•"/>
            </a:pPr>
            <a:r>
              <a:rPr lang="en-US" sz="130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• “Marquee” games that must be in different weeks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3200" marR="0" lvl="0" indent="-20320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00"/>
              <a:buFont typeface="Calibri"/>
              <a:buChar char="•"/>
            </a:pPr>
            <a:r>
              <a:rPr lang="en-US" sz="130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• Soft preferences: travel-friendly cross-division picks + fairness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960120" y="3703320"/>
            <a:ext cx="51206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Preprocessing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960120" y="4142232"/>
            <a:ext cx="5303520" cy="1691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03200" marR="0" lvl="0" indent="-20320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00"/>
              <a:buFont typeface="Calibri"/>
              <a:buChar char="•"/>
            </a:pPr>
            <a:r>
              <a:rPr lang="en-US" sz="130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• Convert distances data → full symmetric dist(i,j)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3200" marR="0" lvl="0" indent="-20320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00"/>
              <a:buFont typeface="Calibri"/>
              <a:buChar char="•"/>
            </a:pPr>
            <a:r>
              <a:rPr lang="en-US" sz="130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• Build quick validation checks (counts, opponent coverage, patterns)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3200" marR="0" lvl="0" indent="-20320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00"/>
              <a:buFont typeface="Calibri"/>
              <a:buChar char="•"/>
            </a:pPr>
            <a:r>
              <a:rPr lang="en-US" sz="130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• Encode soft rules as objective penalties (not brittle hard rules)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6537960" y="914400"/>
            <a:ext cx="5010912" cy="5394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  <a:effectLst>
            <a:outerShdw blurRad="25400" dist="12700" dir="27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3"/>
          <p:cNvSpPr/>
          <p:nvPr/>
        </p:nvSpPr>
        <p:spPr>
          <a:xfrm>
            <a:off x="6858000" y="1097280"/>
            <a:ext cx="44805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Output (submission format)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6858000" y="1481328"/>
            <a:ext cx="44805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Each line:  HOME  AWAY  WEEK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6858000" y="1874520"/>
            <a:ext cx="4434840" cy="2011680"/>
          </a:xfrm>
          <a:prstGeom prst="rect">
            <a:avLst/>
          </a:prstGeom>
          <a:solidFill>
            <a:srgbClr val="0B1220"/>
          </a:solidFill>
          <a:ln w="12700" cap="flat" cmpd="sng">
            <a:solidFill>
              <a:srgbClr val="0B122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3"/>
          <p:cNvSpPr/>
          <p:nvPr/>
        </p:nvSpPr>
        <p:spPr>
          <a:xfrm>
            <a:off x="7059168" y="1993392"/>
            <a:ext cx="406908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1800"/>
              <a:buFont typeface="Consolas"/>
              <a:buNone/>
            </a:pPr>
            <a:r>
              <a:rPr lang="en-US" sz="1800" b="0" i="0" u="none" strike="noStrike" cap="none">
                <a:solidFill>
                  <a:srgbClr val="D1D5DB"/>
                </a:solidFill>
                <a:latin typeface="Consolas"/>
                <a:ea typeface="Consolas"/>
                <a:cs typeface="Consolas"/>
                <a:sym typeface="Consolas"/>
              </a:rPr>
              <a:t>CAN DEN 5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1800"/>
              <a:buFont typeface="Consolas"/>
              <a:buNone/>
            </a:pPr>
            <a:r>
              <a:rPr lang="en-US" sz="1800" b="0" i="0" u="none" strike="noStrike" cap="none">
                <a:solidFill>
                  <a:srgbClr val="D1D5DB"/>
                </a:solidFill>
                <a:latin typeface="Consolas"/>
                <a:ea typeface="Consolas"/>
                <a:cs typeface="Consolas"/>
                <a:sym typeface="Consolas"/>
              </a:rPr>
              <a:t>FIJ CHI 8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1800"/>
              <a:buFont typeface="Consolas"/>
              <a:buNone/>
            </a:pPr>
            <a:r>
              <a:rPr lang="en-US" sz="1800" b="0" i="0" u="none" strike="noStrike" cap="none">
                <a:solidFill>
                  <a:srgbClr val="D1D5DB"/>
                </a:solidFill>
                <a:latin typeface="Consolas"/>
                <a:ea typeface="Consolas"/>
                <a:cs typeface="Consolas"/>
                <a:sym typeface="Consolas"/>
              </a:rPr>
              <a:t>DEN SWE 7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1800"/>
              <a:buFont typeface="Consolas"/>
              <a:buNone/>
            </a:pPr>
            <a:r>
              <a:rPr lang="en-US" sz="1800" b="0" i="0" u="none" strike="noStrike" cap="none">
                <a:solidFill>
                  <a:srgbClr val="D1D5DB"/>
                </a:solidFill>
                <a:latin typeface="Consolas"/>
                <a:ea typeface="Consolas"/>
                <a:cs typeface="Consolas"/>
                <a:sym typeface="Consolas"/>
              </a:rPr>
              <a:t>...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6858000" y="4069080"/>
            <a:ext cx="44805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Primary deliverables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6858000" y="4389120"/>
            <a:ext cx="448056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03200" marR="0" lvl="0" indent="-20320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00"/>
              <a:buFont typeface="Calibri"/>
              <a:buChar char="•"/>
            </a:pPr>
            <a:r>
              <a:rPr lang="en-US" sz="130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• Feasible schedule (all hard rules)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3200" marR="0" lvl="0" indent="-20320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00"/>
              <a:buFont typeface="Calibri"/>
              <a:buChar char="•"/>
            </a:pPr>
            <a:r>
              <a:rPr lang="en-US" sz="130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• KPI report: travel, fairness, </a:t>
            </a:r>
            <a:r>
              <a:rPr lang="en-US" sz="13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away</a:t>
            </a:r>
            <a:r>
              <a:rPr lang="en-US" sz="130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 patterns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3200" marR="0" lvl="0" indent="-20320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00"/>
              <a:buFont typeface="Calibri"/>
              <a:buChar char="•"/>
            </a:pPr>
            <a:r>
              <a:rPr lang="en-US" sz="130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• Re-runnable code + sanity checks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4"/>
          <p:cNvSpPr/>
          <p:nvPr/>
        </p:nvSpPr>
        <p:spPr>
          <a:xfrm>
            <a:off x="640080" y="109728"/>
            <a:ext cx="86868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3) Model structure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640080" y="402336"/>
            <a:ext cx="9601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Binary decision variables capture opponent, venue, and week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4"/>
          <p:cNvSpPr/>
          <p:nvPr/>
        </p:nvSpPr>
        <p:spPr>
          <a:xfrm>
            <a:off x="640080" y="6601968"/>
            <a:ext cx="10911535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WSL Scheduling • Slide 4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640080" y="914400"/>
            <a:ext cx="10927080" cy="5394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4"/>
          <p:cNvSpPr/>
          <p:nvPr/>
        </p:nvSpPr>
        <p:spPr>
          <a:xfrm>
            <a:off x="914400" y="1097280"/>
            <a:ext cx="102412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Decision variables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1952600" y="1699025"/>
            <a:ext cx="7938000" cy="10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2000"/>
              <a:buFont typeface="Consolas"/>
              <a:buNone/>
            </a:pP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914400" y="3246120"/>
            <a:ext cx="102412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600"/>
              <a:buFont typeface="Calibri"/>
              <a:buNone/>
            </a:pPr>
            <a:r>
              <a:rPr lang="en-US" sz="1600" b="1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Helper Expressions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914400" y="3566141"/>
            <a:ext cx="10241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600"/>
              <a:buFont typeface="Consolas"/>
              <a:buNone/>
            </a:pP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512725" y="4389120"/>
            <a:ext cx="102414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8423325" y="3682175"/>
            <a:ext cx="2732400" cy="21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Why this structure works</a:t>
            </a:r>
            <a:br>
              <a:rPr lang="en-US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0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• One variable encodes opponent + venue + week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• All hard rules become linear constraints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• Travel cost is a simple weighted sum over away assignments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7" name="Google Shape;97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65750" y="1497350"/>
            <a:ext cx="7937949" cy="144035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98" name="Google Shape;98;p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14400" y="3649225"/>
            <a:ext cx="5730150" cy="234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c92a3a52e4_0_67"/>
          <p:cNvSpPr/>
          <p:nvPr/>
        </p:nvSpPr>
        <p:spPr>
          <a:xfrm>
            <a:off x="640080" y="914400"/>
            <a:ext cx="5349300" cy="53949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g3c92a3a52e4_0_67"/>
          <p:cNvSpPr/>
          <p:nvPr/>
        </p:nvSpPr>
        <p:spPr>
          <a:xfrm>
            <a:off x="6427130" y="914400"/>
            <a:ext cx="5349300" cy="53949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g3c92a3a52e4_0_67"/>
          <p:cNvSpPr txBox="1"/>
          <p:nvPr/>
        </p:nvSpPr>
        <p:spPr>
          <a:xfrm>
            <a:off x="734450" y="229525"/>
            <a:ext cx="7252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/>
              <a:t>Constraints:</a:t>
            </a:r>
            <a:endParaRPr sz="1800" b="1"/>
          </a:p>
        </p:txBody>
      </p:sp>
      <p:pic>
        <p:nvPicPr>
          <p:cNvPr id="107" name="Google Shape;107;g3c92a3a52e4_0_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7275" y="1193475"/>
            <a:ext cx="4498550" cy="4854326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08" name="Google Shape;108;g3c92a3a52e4_0_6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62600" y="1193475"/>
            <a:ext cx="4601150" cy="4854325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F794D40-D37A-DD81-A969-C4D53EBBF7FF}"/>
              </a:ext>
            </a:extLst>
          </p:cNvPr>
          <p:cNvSpPr txBox="1"/>
          <p:nvPr/>
        </p:nvSpPr>
        <p:spPr>
          <a:xfrm>
            <a:off x="9653287" y="2997843"/>
            <a:ext cx="181046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/>
              <a:t>(</a:t>
            </a:r>
            <a:r>
              <a:rPr lang="en-US" sz="800" b="1" dirty="0"/>
              <a:t>at most one</a:t>
            </a:r>
            <a:r>
              <a:rPr lang="en-US" sz="800" dirty="0"/>
              <a:t> back-to-back away</a:t>
            </a:r>
            <a:r>
              <a:rPr lang="en-US" sz="700" dirty="0"/>
              <a:t>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5"/>
          <p:cNvSpPr/>
          <p:nvPr/>
        </p:nvSpPr>
        <p:spPr>
          <a:xfrm>
            <a:off x="640080" y="109728"/>
            <a:ext cx="86868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4) Hard constraints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640080" y="402336"/>
            <a:ext cx="9601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Rules that must always hold (feasibility)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5"/>
          <p:cNvSpPr/>
          <p:nvPr/>
        </p:nvSpPr>
        <p:spPr>
          <a:xfrm>
            <a:off x="640080" y="6601968"/>
            <a:ext cx="10911535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WSL Scheduling • Slide 5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640080" y="914400"/>
            <a:ext cx="5349240" cy="5394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5"/>
          <p:cNvSpPr/>
          <p:nvPr/>
        </p:nvSpPr>
        <p:spPr>
          <a:xfrm>
            <a:off x="6199632" y="914400"/>
            <a:ext cx="5349240" cy="5394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5"/>
          <p:cNvSpPr/>
          <p:nvPr/>
        </p:nvSpPr>
        <p:spPr>
          <a:xfrm>
            <a:off x="914400" y="1097280"/>
            <a:ext cx="48463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Season structure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914400" y="1463040"/>
            <a:ext cx="4846320" cy="1920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28600" marR="0" lvl="0" indent="-22860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Calibri"/>
              <a:buChar char="•"/>
            </a:pPr>
            <a:r>
              <a:rPr lang="en-US" sz="140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• ≤ 1 game per team per week (byes allowed)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Calibri"/>
              <a:buChar char="•"/>
            </a:pPr>
            <a:r>
              <a:rPr lang="en-US" sz="140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• 4 home + 4 away per team (8 games)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Calibri"/>
              <a:buChar char="•"/>
            </a:pPr>
            <a:r>
              <a:rPr lang="en-US" sz="140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• In-division: play all 5 opponents exactly once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Calibri"/>
              <a:buChar char="•"/>
            </a:pPr>
            <a:r>
              <a:rPr lang="en-US" sz="140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• Cross-division: pick 3 opponents (exactly 3 games)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914400" y="3566160"/>
            <a:ext cx="48463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Road-trip rules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914400" y="3886200"/>
            <a:ext cx="484632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28600" marR="0" lvl="0" indent="-22860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Calibri"/>
              <a:buChar char="•"/>
            </a:pPr>
            <a:r>
              <a:rPr lang="en-US" sz="140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• At most 1 back-to-back away segment per team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Calibri"/>
              <a:buChar char="•"/>
            </a:pPr>
            <a:r>
              <a:rPr lang="en-US" sz="140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• Cannot start season with away-away (weeks 1–2)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Calibri"/>
              <a:buChar char="•"/>
            </a:pPr>
            <a:r>
              <a:rPr lang="en-US" sz="140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• Cannot end season with away-away (weeks 8–9)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6473952" y="1097280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Broadcast constraint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6473952" y="1444752"/>
            <a:ext cx="4754880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28600" marR="0" lvl="0" indent="-22860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Calibri"/>
              <a:buChar char="•"/>
            </a:pPr>
            <a:r>
              <a:rPr lang="en-US" sz="140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Marquee matchups must be in different weeks: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Calibri"/>
              <a:buChar char="•"/>
            </a:pPr>
            <a:r>
              <a:rPr lang="en-US" sz="140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• Tahiti–Fiji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Calibri"/>
              <a:buChar char="•"/>
            </a:pPr>
            <a:r>
              <a:rPr lang="en-US" sz="140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• Sweden–Denmark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Calibri"/>
              <a:buChar char="•"/>
            </a:pPr>
            <a:r>
              <a:rPr lang="en-US" sz="140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• Chile–Argentina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Calibri"/>
              <a:buChar char="•"/>
            </a:pPr>
            <a:r>
              <a:rPr lang="en-US" sz="140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• Antarctica–Australia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6473952" y="3108960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Key linearizations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6473952" y="3474720"/>
            <a:ext cx="4754880" cy="2560320"/>
          </a:xfrm>
          <a:prstGeom prst="rect">
            <a:avLst/>
          </a:prstGeom>
          <a:solidFill>
            <a:srgbClr val="0B1220"/>
          </a:solidFill>
          <a:ln w="12700" cap="flat" cmpd="sng">
            <a:solidFill>
              <a:srgbClr val="0B122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5"/>
          <p:cNvSpPr/>
          <p:nvPr/>
        </p:nvSpPr>
        <p:spPr>
          <a:xfrm>
            <a:off x="6702552" y="3639312"/>
            <a:ext cx="429768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1500"/>
              <a:buFont typeface="Consolas"/>
              <a:buNone/>
            </a:pPr>
            <a:r>
              <a:rPr lang="en-US" sz="1500" b="0" i="0" u="none" strike="noStrike" cap="none">
                <a:solidFill>
                  <a:srgbClr val="D1D5DB"/>
                </a:solidFill>
                <a:latin typeface="Consolas"/>
                <a:ea typeface="Consolas"/>
                <a:cs typeface="Consolas"/>
                <a:sym typeface="Consolas"/>
              </a:rPr>
              <a:t>away[i,w] = Σ_j x[j,i,w]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1500"/>
              <a:buFont typeface="Consolas"/>
              <a:buNone/>
            </a:pPr>
            <a:r>
              <a:rPr lang="en-US" sz="1500" b="0" i="0" u="none" strike="noStrike" cap="none">
                <a:solidFill>
                  <a:srgbClr val="D1D5DB"/>
                </a:solidFill>
                <a:latin typeface="Consolas"/>
                <a:ea typeface="Consolas"/>
                <a:cs typeface="Consolas"/>
                <a:sym typeface="Consolas"/>
              </a:rPr>
              <a:t>r[i,w] ≥ away[i,w] + away[i,w+1] − 1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1500"/>
              <a:buFont typeface="Consolas"/>
              <a:buNone/>
            </a:pPr>
            <a:r>
              <a:rPr lang="en-US" sz="1500" b="0" i="0" u="none" strike="noStrike" cap="none">
                <a:solidFill>
                  <a:srgbClr val="D1D5DB"/>
                </a:solidFill>
                <a:latin typeface="Consolas"/>
                <a:ea typeface="Consolas"/>
                <a:cs typeface="Consolas"/>
                <a:sym typeface="Consolas"/>
              </a:rPr>
              <a:t>Σ_w r[i,w] ≤ 1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1500"/>
              <a:buFont typeface="Consolas"/>
              <a:buNone/>
            </a:pPr>
            <a:r>
              <a:rPr lang="en-US" sz="1500" b="0" i="0" u="none" strike="noStrike" cap="none">
                <a:solidFill>
                  <a:srgbClr val="D1D5DB"/>
                </a:solidFill>
                <a:latin typeface="Consolas"/>
                <a:ea typeface="Consolas"/>
                <a:cs typeface="Consolas"/>
                <a:sym typeface="Consolas"/>
              </a:rPr>
              <a:t>TV in different weeks: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1500"/>
              <a:buFont typeface="Consolas"/>
              <a:buNone/>
            </a:pPr>
            <a:r>
              <a:rPr lang="en-US" sz="1500" b="0" i="0" u="none" strike="noStrike" cap="none">
                <a:solidFill>
                  <a:srgbClr val="D1D5DB"/>
                </a:solidFill>
                <a:latin typeface="Consolas"/>
                <a:ea typeface="Consolas"/>
                <a:cs typeface="Consolas"/>
                <a:sym typeface="Consolas"/>
              </a:rPr>
              <a:t>Σ_(a,b)∈TV (x[a,b,w]+x[b,a,w]) ≤ 1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6"/>
          <p:cNvSpPr/>
          <p:nvPr/>
        </p:nvSpPr>
        <p:spPr>
          <a:xfrm>
            <a:off x="640080" y="109728"/>
            <a:ext cx="86868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5) Objective: travel + fairness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640080" y="402336"/>
            <a:ext cx="9601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Soft constraints handled via penalties (stable + tunable)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6"/>
          <p:cNvSpPr/>
          <p:nvPr/>
        </p:nvSpPr>
        <p:spPr>
          <a:xfrm>
            <a:off x="640080" y="6601968"/>
            <a:ext cx="10911535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WSL Scheduling • Slide 6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640080" y="914400"/>
            <a:ext cx="10927080" cy="5394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6"/>
          <p:cNvSpPr/>
          <p:nvPr/>
        </p:nvSpPr>
        <p:spPr>
          <a:xfrm>
            <a:off x="914400" y="1097280"/>
            <a:ext cx="103327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Primary objective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914400" y="1444752"/>
            <a:ext cx="10332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Minimize total away-team travel miles: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914400" y="1783080"/>
            <a:ext cx="10332720" cy="658368"/>
          </a:xfrm>
          <a:prstGeom prst="rect">
            <a:avLst/>
          </a:prstGeom>
          <a:solidFill>
            <a:srgbClr val="0B1220"/>
          </a:solidFill>
          <a:ln w="12700" cap="flat" cmpd="sng">
            <a:solidFill>
              <a:srgbClr val="0B122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6"/>
          <p:cNvSpPr/>
          <p:nvPr/>
        </p:nvSpPr>
        <p:spPr>
          <a:xfrm>
            <a:off x="1143000" y="1947672"/>
            <a:ext cx="99669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1800"/>
              <a:buFont typeface="Consolas"/>
              <a:buNone/>
            </a:pPr>
            <a:r>
              <a:rPr lang="en-US" sz="1800" b="0" i="0" u="none" strike="noStrike" cap="none">
                <a:solidFill>
                  <a:srgbClr val="D1D5DB"/>
                </a:solidFill>
                <a:latin typeface="Consolas"/>
                <a:ea typeface="Consolas"/>
                <a:cs typeface="Consolas"/>
                <a:sym typeface="Consolas"/>
              </a:rPr>
              <a:t>TotalTravel = Σ_w Σ_i Σ_j dist(i,j) · x[j,i,w]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777225" y="2606040"/>
            <a:ext cx="103326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Fairness: avoid a “brutal” schedule for any single team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914400" y="2971800"/>
            <a:ext cx="6400800" cy="146304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6"/>
          <p:cNvSpPr/>
          <p:nvPr/>
        </p:nvSpPr>
        <p:spPr>
          <a:xfrm>
            <a:off x="1143000" y="3090672"/>
            <a:ext cx="594360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Consolas"/>
              <a:buNone/>
            </a:pPr>
            <a:r>
              <a:rPr lang="en-US" sz="1400" b="0" i="0" u="none" strike="noStrike" cap="none">
                <a:solidFill>
                  <a:srgbClr val="374151"/>
                </a:solidFill>
                <a:latin typeface="Consolas"/>
                <a:ea typeface="Consolas"/>
                <a:cs typeface="Consolas"/>
                <a:sym typeface="Consolas"/>
              </a:rPr>
              <a:t>Let travel[i] be total away miles for team i.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Consolas"/>
              <a:buNone/>
            </a:pPr>
            <a:r>
              <a:rPr lang="en-US" sz="1400" b="0" i="0" u="none" strike="noStrike" cap="none">
                <a:solidFill>
                  <a:srgbClr val="374151"/>
                </a:solidFill>
                <a:latin typeface="Consolas"/>
                <a:ea typeface="Consolas"/>
                <a:cs typeface="Consolas"/>
                <a:sym typeface="Consolas"/>
              </a:rPr>
              <a:t>Introduce T_max and T_min: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Consolas"/>
              <a:buNone/>
            </a:pPr>
            <a:r>
              <a:rPr lang="en-US" sz="1400" b="0" i="0" u="none" strike="noStrike" cap="none">
                <a:solidFill>
                  <a:srgbClr val="374151"/>
                </a:solidFill>
                <a:latin typeface="Consolas"/>
                <a:ea typeface="Consolas"/>
                <a:cs typeface="Consolas"/>
                <a:sym typeface="Consolas"/>
              </a:rPr>
              <a:t>  T_max ≥ travel[i]   for all i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Consolas"/>
              <a:buNone/>
            </a:pPr>
            <a:r>
              <a:rPr lang="en-US" sz="1400" b="0" i="0" u="none" strike="noStrike" cap="none">
                <a:solidFill>
                  <a:srgbClr val="374151"/>
                </a:solidFill>
                <a:latin typeface="Consolas"/>
                <a:ea typeface="Consolas"/>
                <a:cs typeface="Consolas"/>
                <a:sym typeface="Consolas"/>
              </a:rPr>
              <a:t>  T_min ≤ travel[i]   for all i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Consolas"/>
              <a:buNone/>
            </a:pPr>
            <a:r>
              <a:rPr lang="en-US" sz="1400" b="0" i="0" u="none" strike="noStrike" cap="none">
                <a:solidFill>
                  <a:srgbClr val="374151"/>
                </a:solidFill>
                <a:latin typeface="Consolas"/>
                <a:ea typeface="Consolas"/>
                <a:cs typeface="Consolas"/>
                <a:sym typeface="Consolas"/>
              </a:rPr>
              <a:t>Penalty term:  (T_max − T_min)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7452360" y="2971800"/>
            <a:ext cx="3794760" cy="1463040"/>
          </a:xfrm>
          <a:prstGeom prst="roundRect">
            <a:avLst>
              <a:gd name="adj" fmla="val 16667"/>
            </a:avLst>
          </a:prstGeom>
          <a:solidFill>
            <a:srgbClr val="FFF7ED"/>
          </a:solidFill>
          <a:ln w="12700" cap="flat" cmpd="sng">
            <a:solidFill>
              <a:srgbClr val="FDBA7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6"/>
          <p:cNvSpPr/>
          <p:nvPr/>
        </p:nvSpPr>
        <p:spPr>
          <a:xfrm>
            <a:off x="7680960" y="3090672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A3412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9A3412"/>
                </a:solidFill>
                <a:latin typeface="Calibri"/>
                <a:ea typeface="Calibri"/>
                <a:cs typeface="Calibri"/>
                <a:sym typeface="Calibri"/>
              </a:rPr>
              <a:t>Why a penalty (vs hard caps)?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6"/>
          <p:cNvSpPr/>
          <p:nvPr/>
        </p:nvSpPr>
        <p:spPr>
          <a:xfrm>
            <a:off x="7680960" y="3383280"/>
            <a:ext cx="338328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Clr>
                <a:srgbClr val="7C2D12"/>
              </a:buClr>
              <a:buSzPts val="1200"/>
              <a:buFont typeface="Calibri"/>
              <a:buChar char="•"/>
            </a:pPr>
            <a:r>
              <a:rPr lang="en-US" sz="1200" b="0" i="0" u="none" strike="noStrike" cap="none">
                <a:solidFill>
                  <a:srgbClr val="7C2D12"/>
                </a:solidFill>
                <a:latin typeface="Calibri"/>
                <a:ea typeface="Calibri"/>
                <a:cs typeface="Calibri"/>
                <a:sym typeface="Calibri"/>
              </a:rPr>
              <a:t>• Keeps model feasible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Clr>
                <a:srgbClr val="7C2D12"/>
              </a:buClr>
              <a:buSzPts val="1200"/>
              <a:buFont typeface="Calibri"/>
              <a:buChar char="•"/>
            </a:pPr>
            <a:r>
              <a:rPr lang="en-US" sz="1200" b="0" i="0" u="none" strike="noStrike" cap="none">
                <a:solidFill>
                  <a:srgbClr val="7C2D12"/>
                </a:solidFill>
                <a:latin typeface="Calibri"/>
                <a:ea typeface="Calibri"/>
                <a:cs typeface="Calibri"/>
                <a:sym typeface="Calibri"/>
              </a:rPr>
              <a:t>• Smooth trade-offs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Clr>
                <a:srgbClr val="7C2D12"/>
              </a:buClr>
              <a:buSzPts val="1200"/>
              <a:buFont typeface="Calibri"/>
              <a:buChar char="•"/>
            </a:pPr>
            <a:r>
              <a:rPr lang="en-US" sz="1200" b="0" i="0" u="none" strike="noStrike" cap="none">
                <a:solidFill>
                  <a:srgbClr val="7C2D12"/>
                </a:solidFill>
                <a:latin typeface="Calibri"/>
                <a:ea typeface="Calibri"/>
                <a:cs typeface="Calibri"/>
                <a:sym typeface="Calibri"/>
              </a:rPr>
              <a:t>• Easy weight tuning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914400" y="4572000"/>
            <a:ext cx="103327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Final objective (weighted sum)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914375" y="5687575"/>
            <a:ext cx="10332600" cy="457200"/>
          </a:xfrm>
          <a:prstGeom prst="rect">
            <a:avLst/>
          </a:prstGeom>
          <a:solidFill>
            <a:srgbClr val="0B1220"/>
          </a:solidFill>
          <a:ln w="12700" cap="flat" cmpd="sng">
            <a:solidFill>
              <a:srgbClr val="0B122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6"/>
          <p:cNvSpPr/>
          <p:nvPr/>
        </p:nvSpPr>
        <p:spPr>
          <a:xfrm>
            <a:off x="1097225" y="5651006"/>
            <a:ext cx="99669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1800"/>
              <a:buFont typeface="Consolas"/>
              <a:buNone/>
            </a:pPr>
            <a:r>
              <a:rPr lang="en-US" sz="1800" b="0" i="0" u="none" strike="noStrike" cap="none">
                <a:solidFill>
                  <a:srgbClr val="D1D5DB"/>
                </a:solidFill>
                <a:latin typeface="Consolas"/>
                <a:ea typeface="Consolas"/>
                <a:cs typeface="Consolas"/>
                <a:sym typeface="Consolas"/>
              </a:rPr>
              <a:t>Minimize:  TotalTravel  +  λ_fair·(T_max−T_min)  +  λ_b2b·Σ r[i,w]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4" name="Google Shape;154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72325" y="4694763"/>
            <a:ext cx="4383800" cy="7328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8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8"/>
          <p:cNvSpPr/>
          <p:nvPr/>
        </p:nvSpPr>
        <p:spPr>
          <a:xfrm>
            <a:off x="640080" y="109728"/>
            <a:ext cx="86868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200"/>
              <a:buFont typeface="Calibri"/>
              <a:buNone/>
            </a:pPr>
            <a:r>
              <a:rPr lang="en-US" sz="2200" b="1" dirty="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r>
              <a:rPr lang="en-US" sz="2200" b="1" i="0" u="none" strike="noStrike" cap="none" dirty="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) Results (validated schedule)</a:t>
            </a:r>
            <a:endParaRPr sz="2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8"/>
          <p:cNvSpPr/>
          <p:nvPr/>
        </p:nvSpPr>
        <p:spPr>
          <a:xfrm>
            <a:off x="640080" y="402336"/>
            <a:ext cx="9601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Hard constraints satisfied; strong travel + fairness KPIs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8"/>
          <p:cNvSpPr/>
          <p:nvPr/>
        </p:nvSpPr>
        <p:spPr>
          <a:xfrm>
            <a:off x="640080" y="6601968"/>
            <a:ext cx="10911535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WSL Scheduling • Slide 8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8"/>
          <p:cNvSpPr/>
          <p:nvPr/>
        </p:nvSpPr>
        <p:spPr>
          <a:xfrm>
            <a:off x="640080" y="914400"/>
            <a:ext cx="2743200" cy="1024128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  <a:effectLst>
            <a:outerShdw blurRad="25400" dist="12700" dir="27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8"/>
          <p:cNvSpPr/>
          <p:nvPr/>
        </p:nvSpPr>
        <p:spPr>
          <a:xfrm>
            <a:off x="868680" y="1042416"/>
            <a:ext cx="22860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Total away travel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8"/>
          <p:cNvSpPr/>
          <p:nvPr/>
        </p:nvSpPr>
        <p:spPr>
          <a:xfrm>
            <a:off x="868680" y="1316736"/>
            <a:ext cx="22860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Calibri"/>
              <a:buNone/>
            </a:pPr>
            <a:r>
              <a:rPr lang="en-US" sz="2000" b="1" i="0" u="none" strike="noStrike" cap="none" dirty="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35,125 mi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8"/>
          <p:cNvSpPr/>
          <p:nvPr/>
        </p:nvSpPr>
        <p:spPr>
          <a:xfrm>
            <a:off x="868680" y="1627632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48 away trips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8"/>
          <p:cNvSpPr/>
          <p:nvPr/>
        </p:nvSpPr>
        <p:spPr>
          <a:xfrm>
            <a:off x="3611880" y="914400"/>
            <a:ext cx="2743200" cy="1024128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  <a:effectLst>
            <a:outerShdw blurRad="25400" dist="12700" dir="27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8"/>
          <p:cNvSpPr/>
          <p:nvPr/>
        </p:nvSpPr>
        <p:spPr>
          <a:xfrm>
            <a:off x="3840480" y="1042416"/>
            <a:ext cx="22860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Avg miles / away trip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8"/>
          <p:cNvSpPr/>
          <p:nvPr/>
        </p:nvSpPr>
        <p:spPr>
          <a:xfrm>
            <a:off x="3840480" y="1316736"/>
            <a:ext cx="22860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731.8 mi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8"/>
          <p:cNvSpPr/>
          <p:nvPr/>
        </p:nvSpPr>
        <p:spPr>
          <a:xfrm>
            <a:off x="3840480" y="1627632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baseline ~828 mi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8"/>
          <p:cNvSpPr/>
          <p:nvPr/>
        </p:nvSpPr>
        <p:spPr>
          <a:xfrm>
            <a:off x="6583680" y="914400"/>
            <a:ext cx="2468880" cy="1024128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  <a:effectLst>
            <a:outerShdw blurRad="25400" dist="12700" dir="27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8"/>
          <p:cNvSpPr/>
          <p:nvPr/>
        </p:nvSpPr>
        <p:spPr>
          <a:xfrm>
            <a:off x="6812280" y="1042416"/>
            <a:ext cx="20116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Fairness spread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8"/>
          <p:cNvSpPr/>
          <p:nvPr/>
        </p:nvSpPr>
        <p:spPr>
          <a:xfrm>
            <a:off x="6812280" y="1316736"/>
            <a:ext cx="201168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1050 mi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8"/>
          <p:cNvSpPr/>
          <p:nvPr/>
        </p:nvSpPr>
        <p:spPr>
          <a:xfrm>
            <a:off x="6812280" y="1627632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max − min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8"/>
          <p:cNvSpPr/>
          <p:nvPr/>
        </p:nvSpPr>
        <p:spPr>
          <a:xfrm>
            <a:off x="9281160" y="914400"/>
            <a:ext cx="2267712" cy="1024128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  <a:effectLst>
            <a:outerShdw blurRad="25400" dist="12700" dir="27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8"/>
          <p:cNvSpPr/>
          <p:nvPr/>
        </p:nvSpPr>
        <p:spPr>
          <a:xfrm>
            <a:off x="9509760" y="1042416"/>
            <a:ext cx="1810512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B2B away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8"/>
          <p:cNvSpPr/>
          <p:nvPr/>
        </p:nvSpPr>
        <p:spPr>
          <a:xfrm>
            <a:off x="9509760" y="1316736"/>
            <a:ext cx="1810512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8"/>
          <p:cNvSpPr/>
          <p:nvPr/>
        </p:nvSpPr>
        <p:spPr>
          <a:xfrm>
            <a:off x="9509760" y="1627632"/>
            <a:ext cx="181051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all teams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8"/>
          <p:cNvSpPr/>
          <p:nvPr/>
        </p:nvSpPr>
        <p:spPr>
          <a:xfrm>
            <a:off x="640080" y="2057400"/>
            <a:ext cx="4206240" cy="4023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8"/>
          <p:cNvSpPr/>
          <p:nvPr/>
        </p:nvSpPr>
        <p:spPr>
          <a:xfrm>
            <a:off x="914400" y="224028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Constraint </a:t>
            </a:r>
            <a:r>
              <a:rPr lang="en-US" sz="1600" b="1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Satisfied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8"/>
          <p:cNvSpPr/>
          <p:nvPr/>
        </p:nvSpPr>
        <p:spPr>
          <a:xfrm>
            <a:off x="914400" y="2606040"/>
            <a:ext cx="384048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03200" marR="0" lvl="0" indent="-20320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00"/>
              <a:buFont typeface="Calibri"/>
              <a:buChar char="•"/>
            </a:pPr>
            <a:r>
              <a:rPr lang="en-US" sz="1300" b="0" i="0" u="none" strike="noStrike" cap="none" dirty="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• 4 home / 4 away / 1 bye each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3200" marR="0" lvl="0" indent="-20320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00"/>
              <a:buFont typeface="Calibri"/>
              <a:buChar char="•"/>
            </a:pPr>
            <a:r>
              <a:rPr lang="en-US" sz="1300" b="0" i="0" u="none" strike="noStrike" cap="none" dirty="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• In-division opponents: exactly once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3200" marR="0" lvl="0" indent="-20320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00"/>
              <a:buFont typeface="Calibri"/>
              <a:buChar char="•"/>
            </a:pPr>
            <a:r>
              <a:rPr lang="en-US" sz="1300" b="0" i="0" u="none" strike="noStrike" cap="none" dirty="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• Cross-division: exactly 3 opponents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3200" marR="0" lvl="0" indent="-20320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00"/>
              <a:buFont typeface="Calibri"/>
              <a:buChar char="•"/>
            </a:pPr>
            <a:r>
              <a:rPr lang="en-US" sz="1300" b="0" i="0" u="none" strike="noStrike" cap="none" dirty="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• TV games in distinct weeks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3200" marR="0" lvl="0" indent="-20320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00"/>
              <a:buFont typeface="Calibri"/>
              <a:buChar char="•"/>
            </a:pPr>
            <a:r>
              <a:rPr lang="en-US" sz="1300" b="0" i="0" u="none" strike="noStrike" cap="none" dirty="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• No start/end with away-away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8"/>
          <p:cNvSpPr/>
          <p:nvPr/>
        </p:nvSpPr>
        <p:spPr>
          <a:xfrm>
            <a:off x="914400" y="45262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Calibri"/>
              <a:buNone/>
            </a:pPr>
            <a:r>
              <a:rPr lang="en-US" sz="1400" b="1" i="0" u="none" strike="noStrike" cap="none" dirty="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Marquee weeks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8"/>
          <p:cNvSpPr/>
          <p:nvPr/>
        </p:nvSpPr>
        <p:spPr>
          <a:xfrm>
            <a:off x="914400" y="4800600"/>
            <a:ext cx="384048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03200" marR="0" lvl="0" indent="-20320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Calibri"/>
              <a:buChar char="•"/>
            </a:pPr>
            <a:r>
              <a:rPr lang="en-US" sz="1200" b="0" i="0" u="none" strike="noStrike" cap="none" dirty="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• Week 2: TAH–FIJ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3200" marR="0" lvl="0" indent="-20320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Calibri"/>
              <a:buChar char="•"/>
            </a:pPr>
            <a:r>
              <a:rPr lang="en-US" sz="1200" b="0" i="0" u="none" strike="noStrike" cap="none" dirty="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• Week 3: CHI–ARG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3200" marR="0" lvl="0" indent="-20320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Calibri"/>
              <a:buChar char="•"/>
            </a:pPr>
            <a:r>
              <a:rPr lang="en-US" sz="1200" b="0" i="0" u="none" strike="noStrike" cap="none" dirty="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• Week 7: SWE–DEN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3200" marR="0" lvl="0" indent="-20320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Calibri"/>
              <a:buChar char="•"/>
            </a:pPr>
            <a:r>
              <a:rPr lang="en-US" sz="1200" b="0" i="0" u="none" strike="noStrike" cap="none" dirty="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• Week 8: ANT–AUS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8"/>
          <p:cNvSpPr/>
          <p:nvPr/>
        </p:nvSpPr>
        <p:spPr>
          <a:xfrm>
            <a:off x="4983480" y="2057400"/>
            <a:ext cx="6565392" cy="4023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8"/>
          <p:cNvSpPr/>
          <p:nvPr/>
        </p:nvSpPr>
        <p:spPr>
          <a:xfrm>
            <a:off x="5257800" y="2240280"/>
            <a:ext cx="60350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Travel by team (away miles)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10" name="Google Shape;210;p8"/>
          <p:cNvGraphicFramePr/>
          <p:nvPr/>
        </p:nvGraphicFramePr>
        <p:xfrm>
          <a:off x="5166360" y="2606040"/>
          <a:ext cx="630936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11" name="Google Shape;211;p8"/>
          <p:cNvSpPr txBox="1"/>
          <p:nvPr/>
        </p:nvSpPr>
        <p:spPr>
          <a:xfrm rot="5400000" flipH="1">
            <a:off x="7273625" y="1317025"/>
            <a:ext cx="2616600" cy="57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/>
              <a:t>               DEN (2515 miles)               </a:t>
            </a:r>
            <a:endParaRPr sz="13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/>
              <a:t>CAN (3565 miles)</a:t>
            </a:r>
            <a:endParaRPr sz="1300"/>
          </a:p>
        </p:txBody>
      </p:sp>
      <p:pic>
        <p:nvPicPr>
          <p:cNvPr id="212" name="Google Shape;212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71650" y="4005075"/>
            <a:ext cx="1383233" cy="1912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8"/>
          <p:cNvSpPr txBox="1"/>
          <p:nvPr/>
        </p:nvSpPr>
        <p:spPr>
          <a:xfrm>
            <a:off x="3154675" y="4255475"/>
            <a:ext cx="457200" cy="16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/>
              <a:t>1.</a:t>
            </a:r>
            <a:endParaRPr sz="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/>
              <a:t>2.</a:t>
            </a:r>
            <a:endParaRPr sz="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/>
              <a:t>3.</a:t>
            </a:r>
            <a:endParaRPr sz="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/>
              <a:t>4.</a:t>
            </a:r>
            <a:endParaRPr sz="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/>
              <a:t>5.</a:t>
            </a:r>
            <a:endParaRPr sz="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/>
              <a:t>6.</a:t>
            </a:r>
            <a:endParaRPr sz="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/>
              <a:t>7.</a:t>
            </a:r>
            <a:endParaRPr sz="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/>
              <a:t>8.</a:t>
            </a:r>
            <a:endParaRPr sz="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/>
              <a:t>9.</a:t>
            </a:r>
            <a:endParaRPr sz="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/>
              <a:t>10.</a:t>
            </a:r>
            <a:endParaRPr sz="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/>
              <a:t>11.</a:t>
            </a:r>
            <a:endParaRPr sz="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/>
              <a:t>12.</a:t>
            </a:r>
            <a:endParaRPr sz="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c92a3a52e4_0_50"/>
          <p:cNvSpPr/>
          <p:nvPr/>
        </p:nvSpPr>
        <p:spPr>
          <a:xfrm>
            <a:off x="583797" y="337975"/>
            <a:ext cx="10965300" cy="5742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20" name="Google Shape;220;g3c92a3a52e4_0_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94800" y="660600"/>
            <a:ext cx="1998000" cy="5097351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21" name="Google Shape;221;g3c92a3a52e4_0_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85488" y="1202874"/>
            <a:ext cx="6420476" cy="4012801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22" name="Google Shape;222;g3c92a3a52e4_0_50"/>
          <p:cNvSpPr txBox="1"/>
          <p:nvPr/>
        </p:nvSpPr>
        <p:spPr>
          <a:xfrm>
            <a:off x="5187100" y="4861675"/>
            <a:ext cx="37068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/>
              <a:t>Week 8                                 Week 3                                 Week 2</a:t>
            </a:r>
            <a:endParaRPr sz="1100"/>
          </a:p>
        </p:txBody>
      </p:sp>
      <p:sp>
        <p:nvSpPr>
          <p:cNvPr id="223" name="Google Shape;223;g3c92a3a52e4_0_50"/>
          <p:cNvSpPr txBox="1"/>
          <p:nvPr/>
        </p:nvSpPr>
        <p:spPr>
          <a:xfrm>
            <a:off x="6644550" y="1753150"/>
            <a:ext cx="15606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chemeClr val="dk1"/>
                </a:solidFill>
              </a:rPr>
              <a:t>Week 7  (DEN - SWE)  </a:t>
            </a:r>
            <a:r>
              <a:rPr lang="en-US" sz="1100">
                <a:solidFill>
                  <a:schemeClr val="dk1"/>
                </a:solidFill>
              </a:rPr>
              <a:t>  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24" name="Google Shape;224;g3c92a3a52e4_0_5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085750" y="2398475"/>
            <a:ext cx="1560600" cy="271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9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9"/>
          <p:cNvSpPr/>
          <p:nvPr/>
        </p:nvSpPr>
        <p:spPr>
          <a:xfrm>
            <a:off x="640080" y="109728"/>
            <a:ext cx="86868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200"/>
              <a:buFont typeface="Calibri"/>
              <a:buNone/>
            </a:pPr>
            <a:r>
              <a:rPr lang="en-US" sz="2200" b="1" dirty="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r>
              <a:rPr lang="en-US" sz="2200" b="1" i="0" u="none" strike="noStrike" cap="none" dirty="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) Schedule snapshot</a:t>
            </a:r>
            <a:endParaRPr sz="2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9"/>
          <p:cNvSpPr/>
          <p:nvPr/>
        </p:nvSpPr>
        <p:spPr>
          <a:xfrm>
            <a:off x="640080" y="402336"/>
            <a:ext cx="9601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How the season flows (byes + marquee games)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9"/>
          <p:cNvSpPr/>
          <p:nvPr/>
        </p:nvSpPr>
        <p:spPr>
          <a:xfrm>
            <a:off x="640080" y="6601968"/>
            <a:ext cx="10911535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WSL Scheduling • Slide 9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9"/>
          <p:cNvSpPr/>
          <p:nvPr/>
        </p:nvSpPr>
        <p:spPr>
          <a:xfrm>
            <a:off x="914400" y="1097280"/>
            <a:ext cx="103327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Weekly notes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9"/>
          <p:cNvSpPr/>
          <p:nvPr/>
        </p:nvSpPr>
        <p:spPr>
          <a:xfrm>
            <a:off x="914400" y="1417320"/>
            <a:ext cx="10332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Byes are inferred (not printed). Marquee games are separated to maximize weekly TV value.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9"/>
          <p:cNvSpPr/>
          <p:nvPr/>
        </p:nvSpPr>
        <p:spPr>
          <a:xfrm>
            <a:off x="914400" y="1874520"/>
            <a:ext cx="10058400" cy="384048"/>
          </a:xfrm>
          <a:prstGeom prst="rect">
            <a:avLst/>
          </a:prstGeom>
          <a:solidFill>
            <a:srgbClr val="F8FAFC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9"/>
          <p:cNvSpPr/>
          <p:nvPr/>
        </p:nvSpPr>
        <p:spPr>
          <a:xfrm>
            <a:off x="1005840" y="1965960"/>
            <a:ext cx="7315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Week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9"/>
          <p:cNvSpPr/>
          <p:nvPr/>
        </p:nvSpPr>
        <p:spPr>
          <a:xfrm>
            <a:off x="1920240" y="1965960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Byes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9"/>
          <p:cNvSpPr/>
          <p:nvPr/>
        </p:nvSpPr>
        <p:spPr>
          <a:xfrm>
            <a:off x="5760720" y="1965960"/>
            <a:ext cx="51206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Headline / notes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9"/>
          <p:cNvSpPr/>
          <p:nvPr/>
        </p:nvSpPr>
        <p:spPr>
          <a:xfrm>
            <a:off x="914400" y="2258568"/>
            <a:ext cx="10058400" cy="38404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9"/>
          <p:cNvSpPr/>
          <p:nvPr/>
        </p:nvSpPr>
        <p:spPr>
          <a:xfrm>
            <a:off x="1005840" y="2350008"/>
            <a:ext cx="7315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9"/>
          <p:cNvSpPr/>
          <p:nvPr/>
        </p:nvSpPr>
        <p:spPr>
          <a:xfrm>
            <a:off x="1920240" y="2350008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JAP, ARG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9"/>
          <p:cNvSpPr/>
          <p:nvPr/>
        </p:nvSpPr>
        <p:spPr>
          <a:xfrm>
            <a:off x="5760720" y="2350008"/>
            <a:ext cx="51206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9"/>
          <p:cNvSpPr/>
          <p:nvPr/>
        </p:nvSpPr>
        <p:spPr>
          <a:xfrm>
            <a:off x="914400" y="2642616"/>
            <a:ext cx="10058400" cy="38404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9"/>
          <p:cNvSpPr/>
          <p:nvPr/>
        </p:nvSpPr>
        <p:spPr>
          <a:xfrm>
            <a:off x="1005840" y="2734056"/>
            <a:ext cx="7315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9"/>
          <p:cNvSpPr/>
          <p:nvPr/>
        </p:nvSpPr>
        <p:spPr>
          <a:xfrm>
            <a:off x="1920240" y="2734056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ANT, CHI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9"/>
          <p:cNvSpPr/>
          <p:nvPr/>
        </p:nvSpPr>
        <p:spPr>
          <a:xfrm>
            <a:off x="5760720" y="2734056"/>
            <a:ext cx="51206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Marquee: TAH–FIJ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9"/>
          <p:cNvSpPr/>
          <p:nvPr/>
        </p:nvSpPr>
        <p:spPr>
          <a:xfrm>
            <a:off x="914400" y="3026664"/>
            <a:ext cx="10058400" cy="38404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9"/>
          <p:cNvSpPr/>
          <p:nvPr/>
        </p:nvSpPr>
        <p:spPr>
          <a:xfrm>
            <a:off x="1005840" y="3118104"/>
            <a:ext cx="7315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9"/>
          <p:cNvSpPr/>
          <p:nvPr/>
        </p:nvSpPr>
        <p:spPr>
          <a:xfrm>
            <a:off x="1920240" y="3118104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9"/>
          <p:cNvSpPr/>
          <p:nvPr/>
        </p:nvSpPr>
        <p:spPr>
          <a:xfrm>
            <a:off x="5760720" y="3118104"/>
            <a:ext cx="51206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Marquee: CHI–ARG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9"/>
          <p:cNvSpPr/>
          <p:nvPr/>
        </p:nvSpPr>
        <p:spPr>
          <a:xfrm>
            <a:off x="914400" y="3410712"/>
            <a:ext cx="10058400" cy="38404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9"/>
          <p:cNvSpPr/>
          <p:nvPr/>
        </p:nvSpPr>
        <p:spPr>
          <a:xfrm>
            <a:off x="1005840" y="3502152"/>
            <a:ext cx="7315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9"/>
          <p:cNvSpPr/>
          <p:nvPr/>
        </p:nvSpPr>
        <p:spPr>
          <a:xfrm>
            <a:off x="1920240" y="3502152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CAN, AUS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9"/>
          <p:cNvSpPr/>
          <p:nvPr/>
        </p:nvSpPr>
        <p:spPr>
          <a:xfrm>
            <a:off x="5760720" y="3502152"/>
            <a:ext cx="51206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9"/>
          <p:cNvSpPr/>
          <p:nvPr/>
        </p:nvSpPr>
        <p:spPr>
          <a:xfrm>
            <a:off x="914400" y="3794760"/>
            <a:ext cx="10058400" cy="38404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9"/>
          <p:cNvSpPr/>
          <p:nvPr/>
        </p:nvSpPr>
        <p:spPr>
          <a:xfrm>
            <a:off x="1005840" y="3886200"/>
            <a:ext cx="7315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9"/>
          <p:cNvSpPr/>
          <p:nvPr/>
        </p:nvSpPr>
        <p:spPr>
          <a:xfrm>
            <a:off x="1920240" y="3886200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9"/>
          <p:cNvSpPr/>
          <p:nvPr/>
        </p:nvSpPr>
        <p:spPr>
          <a:xfrm>
            <a:off x="5760720" y="3886200"/>
            <a:ext cx="51206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9"/>
          <p:cNvSpPr/>
          <p:nvPr/>
        </p:nvSpPr>
        <p:spPr>
          <a:xfrm>
            <a:off x="914400" y="4178808"/>
            <a:ext cx="10058400" cy="38404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9"/>
          <p:cNvSpPr/>
          <p:nvPr/>
        </p:nvSpPr>
        <p:spPr>
          <a:xfrm>
            <a:off x="1005840" y="4270248"/>
            <a:ext cx="7315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9"/>
          <p:cNvSpPr/>
          <p:nvPr/>
        </p:nvSpPr>
        <p:spPr>
          <a:xfrm>
            <a:off x="1920240" y="4270248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RUS, DEN, TAH, FIJ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9"/>
          <p:cNvSpPr/>
          <p:nvPr/>
        </p:nvSpPr>
        <p:spPr>
          <a:xfrm>
            <a:off x="5760720" y="4270248"/>
            <a:ext cx="51206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More byes this week to satisfy home/away + opponent coverage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9"/>
          <p:cNvSpPr/>
          <p:nvPr/>
        </p:nvSpPr>
        <p:spPr>
          <a:xfrm>
            <a:off x="914400" y="4562856"/>
            <a:ext cx="10058400" cy="38404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9"/>
          <p:cNvSpPr/>
          <p:nvPr/>
        </p:nvSpPr>
        <p:spPr>
          <a:xfrm>
            <a:off x="1005840" y="4654296"/>
            <a:ext cx="7315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9"/>
          <p:cNvSpPr/>
          <p:nvPr/>
        </p:nvSpPr>
        <p:spPr>
          <a:xfrm>
            <a:off x="1920240" y="4654296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9"/>
          <p:cNvSpPr/>
          <p:nvPr/>
        </p:nvSpPr>
        <p:spPr>
          <a:xfrm>
            <a:off x="5760720" y="4654296"/>
            <a:ext cx="51206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Marquee: SWE–DEN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9"/>
          <p:cNvSpPr/>
          <p:nvPr/>
        </p:nvSpPr>
        <p:spPr>
          <a:xfrm>
            <a:off x="914400" y="4946904"/>
            <a:ext cx="10058400" cy="38404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9"/>
          <p:cNvSpPr/>
          <p:nvPr/>
        </p:nvSpPr>
        <p:spPr>
          <a:xfrm>
            <a:off x="1005840" y="5038344"/>
            <a:ext cx="7315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9"/>
          <p:cNvSpPr/>
          <p:nvPr/>
        </p:nvSpPr>
        <p:spPr>
          <a:xfrm>
            <a:off x="1920240" y="5038344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ICE, SWE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9"/>
          <p:cNvSpPr/>
          <p:nvPr/>
        </p:nvSpPr>
        <p:spPr>
          <a:xfrm>
            <a:off x="5760720" y="5038344"/>
            <a:ext cx="51206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Marquee: ANT–AUS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9"/>
          <p:cNvSpPr/>
          <p:nvPr/>
        </p:nvSpPr>
        <p:spPr>
          <a:xfrm>
            <a:off x="914400" y="5330952"/>
            <a:ext cx="10058400" cy="38404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p9"/>
          <p:cNvSpPr/>
          <p:nvPr/>
        </p:nvSpPr>
        <p:spPr>
          <a:xfrm>
            <a:off x="1005840" y="5422392"/>
            <a:ext cx="7315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9"/>
          <p:cNvSpPr/>
          <p:nvPr/>
        </p:nvSpPr>
        <p:spPr>
          <a:xfrm>
            <a:off x="1920240" y="5422392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9"/>
          <p:cNvSpPr/>
          <p:nvPr/>
        </p:nvSpPr>
        <p:spPr>
          <a:xfrm>
            <a:off x="5760720" y="5422392"/>
            <a:ext cx="51206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9"/>
          <p:cNvSpPr/>
          <p:nvPr/>
        </p:nvSpPr>
        <p:spPr>
          <a:xfrm>
            <a:off x="914400" y="5788152"/>
            <a:ext cx="10332720" cy="640080"/>
          </a:xfrm>
          <a:prstGeom prst="rect">
            <a:avLst/>
          </a:prstGeom>
          <a:solidFill>
            <a:srgbClr val="ECFDF5"/>
          </a:solidFill>
          <a:ln w="12700" cap="flat" cmpd="sng">
            <a:solidFill>
              <a:srgbClr val="86EF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275" tIns="2275" rIns="2275" bIns="2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Quality check: no team has consecutive away games anywhere in the season (0 back-to-back road segments).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>
          <a:extLst>
            <a:ext uri="{FF2B5EF4-FFF2-40B4-BE49-F238E27FC236}">
              <a16:creationId xmlns:a16="http://schemas.microsoft.com/office/drawing/2014/main" id="{AD722344-F2C4-50DB-4B88-897DD4D7F7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c92a3a52e4_0_50">
            <a:extLst>
              <a:ext uri="{FF2B5EF4-FFF2-40B4-BE49-F238E27FC236}">
                <a16:creationId xmlns:a16="http://schemas.microsoft.com/office/drawing/2014/main" id="{6C7A7A63-539C-DAB7-32A7-29243707B020}"/>
              </a:ext>
            </a:extLst>
          </p:cNvPr>
          <p:cNvSpPr/>
          <p:nvPr/>
        </p:nvSpPr>
        <p:spPr>
          <a:xfrm>
            <a:off x="472966" y="903661"/>
            <a:ext cx="10992049" cy="530303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lang="en-US" b="1" dirty="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endParaRPr lang="en-US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22" name="Google Shape;222;g3c92a3a52e4_0_50">
            <a:extLst>
              <a:ext uri="{FF2B5EF4-FFF2-40B4-BE49-F238E27FC236}">
                <a16:creationId xmlns:a16="http://schemas.microsoft.com/office/drawing/2014/main" id="{8BE483EF-CB17-D947-471A-21DD3B721702}"/>
              </a:ext>
            </a:extLst>
          </p:cNvPr>
          <p:cNvSpPr txBox="1"/>
          <p:nvPr/>
        </p:nvSpPr>
        <p:spPr>
          <a:xfrm>
            <a:off x="5187100" y="4861675"/>
            <a:ext cx="37068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79FD4F8-31F7-5CAF-FC7C-36811EE8722A}"/>
                  </a:ext>
                </a:extLst>
              </p:cNvPr>
              <p:cNvSpPr txBox="1"/>
              <p:nvPr/>
            </p:nvSpPr>
            <p:spPr>
              <a:xfrm>
                <a:off x="762427" y="1102628"/>
                <a:ext cx="5673815" cy="8002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03200" indent="-203200">
                  <a:buClr>
                    <a:srgbClr val="374151"/>
                  </a:buClr>
                  <a:buSzPts val="1200"/>
                  <a:buFont typeface="Calibri"/>
                  <a:buChar char="•"/>
                </a:pPr>
                <a:r>
                  <a:rPr lang="en-US" sz="1600" dirty="0">
                    <a:solidFill>
                      <a:srgbClr val="374151"/>
                    </a:solidFill>
                    <a:latin typeface="Calibri"/>
                    <a:ea typeface="Calibri"/>
                    <a:cs typeface="Calibri"/>
                  </a:rPr>
                  <a:t>Model size: 379 constraints, 1286 variables — 1284 binaries (the schedule decisions) + 2 continuous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600" i="1">
                            <a:solidFill>
                              <a:srgbClr val="374151"/>
                            </a:solidFill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</m:ctrlPr>
                      </m:sSubPr>
                      <m:e>
                        <m:r>
                          <a:rPr lang="ar-AE" sz="1600">
                            <a:solidFill>
                              <a:srgbClr val="374151"/>
                            </a:solidFill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𝑇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600">
                            <a:solidFill>
                              <a:srgbClr val="374151"/>
                            </a:solidFill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max</m:t>
                        </m:r>
                      </m:sub>
                    </m:sSub>
                    <m:r>
                      <a:rPr lang="ar-AE" sz="1600">
                        <a:solidFill>
                          <a:srgbClr val="374151"/>
                        </a:solidFill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,</m:t>
                    </m:r>
                    <m:sSub>
                      <m:sSubPr>
                        <m:ctrlPr>
                          <a:rPr lang="ar-AE" sz="1600" i="1" smtClean="0">
                            <a:solidFill>
                              <a:srgbClr val="374151"/>
                            </a:solidFill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</m:ctrlPr>
                      </m:sSubPr>
                      <m:e>
                        <m:r>
                          <a:rPr lang="ar-AE" sz="1600">
                            <a:solidFill>
                              <a:srgbClr val="374151"/>
                            </a:solidFill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𝑇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600">
                            <a:solidFill>
                              <a:srgbClr val="374151"/>
                            </a:solidFill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min</m:t>
                        </m:r>
                      </m:sub>
                    </m:sSub>
                    <m:r>
                      <a:rPr lang="en-US" sz="1600" b="0" i="0" smtClean="0">
                        <a:solidFill>
                          <a:srgbClr val="374151"/>
                        </a:solidFill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)</m:t>
                    </m:r>
                  </m:oMath>
                </a14:m>
                <a:endParaRPr lang="en-US" sz="180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79FD4F8-31F7-5CAF-FC7C-36811EE872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427" y="1102628"/>
                <a:ext cx="5673815" cy="800219"/>
              </a:xfrm>
              <a:prstGeom prst="rect">
                <a:avLst/>
              </a:prstGeom>
              <a:blipFill>
                <a:blip r:embed="rId3"/>
                <a:stretch>
                  <a:fillRect l="-224" t="-15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61C5E407-FE4D-0085-728A-C55C87EFDF60}"/>
              </a:ext>
            </a:extLst>
          </p:cNvPr>
          <p:cNvSpPr txBox="1"/>
          <p:nvPr/>
        </p:nvSpPr>
        <p:spPr>
          <a:xfrm>
            <a:off x="708075" y="1891920"/>
            <a:ext cx="56927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03200" indent="-203200">
              <a:buClr>
                <a:srgbClr val="374151"/>
              </a:buClr>
              <a:buSzPts val="1200"/>
              <a:buFont typeface="Calibri"/>
              <a:buChar char="•"/>
            </a:pPr>
            <a:r>
              <a:rPr lang="en-US" sz="1600" dirty="0" err="1">
                <a:solidFill>
                  <a:srgbClr val="374151"/>
                </a:solidFill>
                <a:latin typeface="Calibri"/>
                <a:cs typeface="Calibri"/>
              </a:rPr>
              <a:t>Presolve</a:t>
            </a:r>
            <a:r>
              <a:rPr lang="en-US" sz="1600" dirty="0">
                <a:solidFill>
                  <a:srgbClr val="374151"/>
                </a:solidFill>
                <a:latin typeface="Calibri"/>
                <a:cs typeface="Calibri"/>
              </a:rPr>
              <a:t> (solver simplification before branching): </a:t>
            </a:r>
            <a:r>
              <a:rPr lang="en-US" sz="1600" dirty="0" err="1">
                <a:solidFill>
                  <a:srgbClr val="374151"/>
                </a:solidFill>
                <a:latin typeface="Calibri"/>
                <a:cs typeface="Calibri"/>
              </a:rPr>
              <a:t>Gurobi</a:t>
            </a:r>
            <a:r>
              <a:rPr lang="en-US" sz="1600" dirty="0">
                <a:solidFill>
                  <a:srgbClr val="374151"/>
                </a:solidFill>
                <a:latin typeface="Calibri"/>
                <a:cs typeface="Calibri"/>
              </a:rPr>
              <a:t> removed 28 rows and 24 columns, reducing it to 351 rows, 1262 integer vars. </a:t>
            </a:r>
          </a:p>
        </p:txBody>
      </p:sp>
      <p:sp>
        <p:nvSpPr>
          <p:cNvPr id="11" name="Google Shape;230;p9">
            <a:extLst>
              <a:ext uri="{FF2B5EF4-FFF2-40B4-BE49-F238E27FC236}">
                <a16:creationId xmlns:a16="http://schemas.microsoft.com/office/drawing/2014/main" id="{8139F868-4286-7EC1-6E38-625BB56B2A76}"/>
              </a:ext>
            </a:extLst>
          </p:cNvPr>
          <p:cNvSpPr/>
          <p:nvPr/>
        </p:nvSpPr>
        <p:spPr>
          <a:xfrm>
            <a:off x="0" y="134915"/>
            <a:ext cx="12192000" cy="65836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000" b="1" dirty="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          </a:t>
            </a:r>
            <a:r>
              <a:rPr lang="en-US" sz="2200" b="1" dirty="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r>
              <a:rPr lang="en-US" sz="2200" b="1" dirty="0">
                <a:solidFill>
                  <a:srgbClr val="111827"/>
                </a:solidFill>
                <a:latin typeface="Calibri"/>
                <a:cs typeface="Calibri"/>
                <a:sym typeface="Calibri"/>
              </a:rPr>
              <a:t>) Solver Log</a:t>
            </a:r>
          </a:p>
          <a:p>
            <a:pPr lvl="0"/>
            <a:r>
              <a:rPr lang="en-US" dirty="0"/>
              <a:t>                 </a:t>
            </a:r>
            <a:r>
              <a:rPr lang="en-US" sz="1200" dirty="0">
                <a:solidFill>
                  <a:srgbClr val="6B7280"/>
                </a:solidFill>
                <a:latin typeface="Calibri"/>
                <a:cs typeface="Calibri"/>
              </a:rPr>
              <a:t>Solver Performance: Optimal Schedule in ~102 Seconds</a:t>
            </a:r>
            <a:endParaRPr sz="1200" dirty="0">
              <a:solidFill>
                <a:srgbClr val="6B7280"/>
              </a:solidFill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4A88602-0F45-FD29-813D-4AD7BB49ABD6}"/>
                  </a:ext>
                </a:extLst>
              </p:cNvPr>
              <p:cNvSpPr txBox="1"/>
              <p:nvPr/>
            </p:nvSpPr>
            <p:spPr>
              <a:xfrm>
                <a:off x="708075" y="2891106"/>
                <a:ext cx="5673814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03200" indent="-203200">
                  <a:buClr>
                    <a:srgbClr val="374151"/>
                  </a:buClr>
                  <a:buSzPts val="1200"/>
                  <a:buFont typeface="Calibri"/>
                  <a:buChar char="•"/>
                </a:pPr>
                <a:r>
                  <a:rPr lang="en-US" sz="1600" dirty="0">
                    <a:solidFill>
                      <a:srgbClr val="374151"/>
                    </a:solidFill>
                    <a:latin typeface="Calibri"/>
                    <a:ea typeface="Calibri"/>
                    <a:cs typeface="Calibri"/>
                  </a:rPr>
                  <a:t>Search + convergence (branch-and-cut): It starts with a root relaxation around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74151"/>
                        </a:solidFill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3.5130×</m:t>
                    </m:r>
                    <m:sSup>
                      <m:sSupPr>
                        <m:ctrlPr>
                          <a:rPr lang="ar-AE" sz="1600" i="1">
                            <a:solidFill>
                              <a:srgbClr val="374151"/>
                            </a:solidFill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</m:ctrlPr>
                      </m:sSupPr>
                      <m:e>
                        <m:r>
                          <a:rPr lang="ar-AE" sz="1600">
                            <a:solidFill>
                              <a:srgbClr val="374151"/>
                            </a:solidFill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10</m:t>
                        </m:r>
                      </m:e>
                      <m:sup>
                        <m:r>
                          <a:rPr lang="ar-AE" sz="1600">
                            <a:solidFill>
                              <a:srgbClr val="374151"/>
                            </a:solidFill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4</m:t>
                        </m:r>
                      </m:sup>
                    </m:sSup>
                  </m:oMath>
                </a14:m>
                <a:r>
                  <a:rPr lang="ar-AE" sz="1600" dirty="0">
                    <a:solidFill>
                      <a:srgbClr val="374151"/>
                    </a:solidFill>
                    <a:latin typeface="Calibri"/>
                    <a:ea typeface="Calibri"/>
                    <a:cs typeface="Calibri"/>
                  </a:rPr>
                  <a:t>, </a:t>
                </a:r>
                <a:r>
                  <a:rPr lang="en-US" sz="1600" dirty="0">
                    <a:solidFill>
                      <a:srgbClr val="374151"/>
                    </a:solidFill>
                    <a:latin typeface="Calibri"/>
                    <a:ea typeface="Calibri"/>
                    <a:cs typeface="Calibri"/>
                  </a:rPr>
                  <a:t>then improves feasible schedules (we see multiple incumbents, “solution count 10”). It also adds cuts (Gomory, Clique) to tighten the relaxation and close the gap faster.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4A88602-0F45-FD29-813D-4AD7BB49AB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075" y="2891106"/>
                <a:ext cx="5673814" cy="1323439"/>
              </a:xfrm>
              <a:prstGeom prst="rect">
                <a:avLst/>
              </a:prstGeom>
              <a:blipFill>
                <a:blip r:embed="rId4"/>
                <a:stretch>
                  <a:fillRect t="-952" r="-446" b="-47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FF77F7A3-AEE7-0E64-0145-21196FE6C0C1}"/>
              </a:ext>
            </a:extLst>
          </p:cNvPr>
          <p:cNvSpPr txBox="1"/>
          <p:nvPr/>
        </p:nvSpPr>
        <p:spPr>
          <a:xfrm>
            <a:off x="708075" y="4492893"/>
            <a:ext cx="555254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03200" indent="-203200">
              <a:buClr>
                <a:srgbClr val="374151"/>
              </a:buClr>
              <a:buSzPts val="1200"/>
              <a:buFont typeface="Calibri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/>
                <a:cs typeface="Calibri"/>
              </a:rPr>
              <a:t>Quality + runtime: It explored 5690 nodes in ~102 seconds and finished with an optimal solution: best objective 35135.5 with 0.0097% gap. That objective is the weighted one: 35125 travel miles + 0.01×(1050 fairness spread) = 35135.5, and 0 back-to-back away game penalties.</a:t>
            </a:r>
          </a:p>
        </p:txBody>
      </p:sp>
      <p:pic>
        <p:nvPicPr>
          <p:cNvPr id="22" name="Picture 21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4A9EF72D-A76E-3035-B657-BC0FB795B7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10892" y="1254790"/>
            <a:ext cx="3375593" cy="1315736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D68F9724-697E-0F3A-9E9F-417099151DF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10891" y="2722917"/>
            <a:ext cx="3375593" cy="319503"/>
          </a:xfrm>
          <a:prstGeom prst="rect">
            <a:avLst/>
          </a:prstGeom>
        </p:spPr>
      </p:pic>
      <p:pic>
        <p:nvPicPr>
          <p:cNvPr id="26" name="Picture 2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815E660-BF3C-3F5B-39FE-3D96ECDF0B2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10891" y="3195476"/>
            <a:ext cx="3817090" cy="2087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2408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p10"/>
          <p:cNvSpPr/>
          <p:nvPr/>
        </p:nvSpPr>
        <p:spPr>
          <a:xfrm>
            <a:off x="640080" y="109728"/>
            <a:ext cx="86868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200"/>
              <a:buFont typeface="Calibri"/>
              <a:buNone/>
            </a:pPr>
            <a:r>
              <a:rPr lang="en-US" sz="2200" b="1" i="0" u="none" strike="noStrike" cap="none" dirty="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9) Travel spend &amp; savings (estimate)</a:t>
            </a:r>
            <a:endParaRPr sz="2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0"/>
          <p:cNvSpPr/>
          <p:nvPr/>
        </p:nvSpPr>
        <p:spPr>
          <a:xfrm>
            <a:off x="640080" y="402336"/>
            <a:ext cx="9601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Translate miles into dollars with transparent assumptions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p10"/>
          <p:cNvSpPr/>
          <p:nvPr/>
        </p:nvSpPr>
        <p:spPr>
          <a:xfrm>
            <a:off x="640080" y="6601968"/>
            <a:ext cx="10911535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WSL Scheduling • Slide 10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0"/>
          <p:cNvSpPr/>
          <p:nvPr/>
        </p:nvSpPr>
        <p:spPr>
          <a:xfrm>
            <a:off x="640080" y="914400"/>
            <a:ext cx="4983480" cy="5394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10"/>
          <p:cNvSpPr/>
          <p:nvPr/>
        </p:nvSpPr>
        <p:spPr>
          <a:xfrm>
            <a:off x="914400" y="1097280"/>
            <a:ext cx="44805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Assumptions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0"/>
          <p:cNvSpPr/>
          <p:nvPr/>
        </p:nvSpPr>
        <p:spPr>
          <a:xfrm>
            <a:off x="914400" y="1417320"/>
            <a:ext cx="4572000" cy="155448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03200" marR="0" lvl="0" indent="-20320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Calibri"/>
              <a:buChar char="•"/>
            </a:pPr>
            <a:r>
              <a:rPr lang="en-US" sz="1200" b="0" i="0" u="none" strike="noStrike" cap="none" dirty="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• Fully-loaded cost per mile (team travel party): $200–$400</a:t>
            </a:r>
            <a:r>
              <a:rPr 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1200" b="0" i="0" u="none" strike="noStrike" cap="none" dirty="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  (flights/charter, lodging, meals, ground transport)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3200" marR="0" lvl="0" indent="-20320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Calibri"/>
              <a:buChar char="•"/>
            </a:pPr>
            <a:r>
              <a:rPr lang="en-US" sz="1200" b="0" i="0" u="none" strike="noStrike" cap="none" dirty="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• Baseline(average pairwise distance * away games): travel-blind schedule expectation ≈ league-wide avg  → 39,729 miles (vs 35,125 optimized)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3200" marR="0" lvl="0" indent="-20320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Calibri"/>
              <a:buChar char="•"/>
            </a:pPr>
            <a:r>
              <a:rPr lang="en-US" sz="1200" b="0" i="0" u="none" strike="noStrike" cap="none" dirty="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• Savings shown are directional and depend on vendor rates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0"/>
          <p:cNvSpPr/>
          <p:nvPr/>
        </p:nvSpPr>
        <p:spPr>
          <a:xfrm>
            <a:off x="914400" y="3218688"/>
            <a:ext cx="73152" cy="2880360"/>
          </a:xfrm>
          <a:prstGeom prst="rect">
            <a:avLst/>
          </a:prstGeom>
          <a:solidFill>
            <a:srgbClr val="0EA5E9"/>
          </a:solidFill>
          <a:ln w="12700" cap="flat" cmpd="sng">
            <a:solidFill>
              <a:srgbClr val="0EA5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p10"/>
          <p:cNvSpPr/>
          <p:nvPr/>
        </p:nvSpPr>
        <p:spPr>
          <a:xfrm>
            <a:off x="1051560" y="3246120"/>
            <a:ext cx="44348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Headline impact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0"/>
          <p:cNvSpPr/>
          <p:nvPr/>
        </p:nvSpPr>
        <p:spPr>
          <a:xfrm>
            <a:off x="1051560" y="3611880"/>
            <a:ext cx="4434840" cy="1874520"/>
          </a:xfrm>
          <a:prstGeom prst="rect">
            <a:avLst/>
          </a:prstGeom>
          <a:solidFill>
            <a:srgbClr val="F8FAFC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03200" marR="0" lvl="0" indent="-20320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00"/>
              <a:buFont typeface="Calibri"/>
              <a:buChar char="•"/>
            </a:pPr>
            <a:r>
              <a:rPr lang="en-US" sz="1300" b="0" i="0" u="none" strike="noStrike" cap="none" dirty="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• Miles reduced: 4,604 (11.6% vs baseline)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3200" marR="0" lvl="0" indent="-20320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00"/>
              <a:buFont typeface="Calibri"/>
              <a:buChar char="•"/>
            </a:pPr>
            <a:r>
              <a:rPr lang="en-US" sz="1300" b="0" i="0" u="none" strike="noStrike" cap="none" dirty="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• Avg away trip: 731.8 mi (48 trips)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3200" marR="0" lvl="0" indent="-20320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00"/>
              <a:buFont typeface="Calibri"/>
              <a:buChar char="•"/>
            </a:pPr>
            <a:r>
              <a:rPr lang="en-US" sz="1300" b="0" i="0" u="none" strike="noStrike" cap="none" dirty="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• Fairness: spread 1050 mi (max − min)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3200" marR="0" lvl="0" indent="-20320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00"/>
              <a:buFont typeface="Calibri"/>
              <a:buChar char="•"/>
            </a:pPr>
            <a:r>
              <a:rPr lang="en-US" sz="1300" b="0" i="0" u="none" strike="noStrike" cap="none" dirty="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• Pattern quality: 0 back-to-back away segments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0"/>
          <p:cNvSpPr/>
          <p:nvPr/>
        </p:nvSpPr>
        <p:spPr>
          <a:xfrm>
            <a:off x="5806440" y="914400"/>
            <a:ext cx="5742432" cy="5394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10"/>
          <p:cNvSpPr/>
          <p:nvPr/>
        </p:nvSpPr>
        <p:spPr>
          <a:xfrm>
            <a:off x="6080760" y="1097280"/>
            <a:ext cx="52120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Estimated travel spend (range)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0"/>
          <p:cNvSpPr/>
          <p:nvPr/>
        </p:nvSpPr>
        <p:spPr>
          <a:xfrm>
            <a:off x="6080760" y="1417320"/>
            <a:ext cx="52120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Bars show total spend; labels show savings vs baseline.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97" name="Google Shape;297;p10"/>
          <p:cNvGraphicFramePr/>
          <p:nvPr/>
        </p:nvGraphicFramePr>
        <p:xfrm>
          <a:off x="5989320" y="1737360"/>
          <a:ext cx="544068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98" name="Google Shape;298;p10"/>
          <p:cNvSpPr/>
          <p:nvPr/>
        </p:nvSpPr>
        <p:spPr>
          <a:xfrm>
            <a:off x="5989320" y="5257800"/>
            <a:ext cx="5440680" cy="960120"/>
          </a:xfrm>
          <a:prstGeom prst="roundRect">
            <a:avLst>
              <a:gd name="adj" fmla="val 16667"/>
            </a:avLst>
          </a:prstGeom>
          <a:solidFill>
            <a:srgbClr val="ECFEFF"/>
          </a:solidFill>
          <a:ln w="12700" cap="flat" cmpd="sng">
            <a:solidFill>
              <a:srgbClr val="67E8F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10"/>
          <p:cNvSpPr/>
          <p:nvPr/>
        </p:nvSpPr>
        <p:spPr>
          <a:xfrm>
            <a:off x="6217920" y="5422392"/>
            <a:ext cx="498348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E7490"/>
                </a:solidFill>
                <a:latin typeface="Calibri"/>
                <a:ea typeface="Calibri"/>
                <a:cs typeface="Calibri"/>
                <a:sym typeface="Calibri"/>
              </a:rPr>
              <a:t>Savings vs baseline (39,729 mi):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E7490"/>
                </a:solidFill>
                <a:latin typeface="Calibri"/>
                <a:ea typeface="Calibri"/>
                <a:cs typeface="Calibri"/>
                <a:sym typeface="Calibri"/>
              </a:rPr>
              <a:t>$200/mi → $0.92M   |   $300/mi → $1.38M   |   $400/mi → $1.84M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7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7"/>
          <p:cNvSpPr/>
          <p:nvPr/>
        </p:nvSpPr>
        <p:spPr>
          <a:xfrm>
            <a:off x="640080" y="109728"/>
            <a:ext cx="86868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200"/>
              <a:buFont typeface="Calibri"/>
              <a:buNone/>
            </a:pPr>
            <a:r>
              <a:rPr lang="en-US" sz="2200" b="1" i="0" u="none" strike="noStrike" cap="none" dirty="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10) Engineering &amp; what broke</a:t>
            </a:r>
            <a:endParaRPr sz="2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7"/>
          <p:cNvSpPr/>
          <p:nvPr/>
        </p:nvSpPr>
        <p:spPr>
          <a:xfrm>
            <a:off x="640080" y="402336"/>
            <a:ext cx="9601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Debugging infeasibility and making results reproducible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7"/>
          <p:cNvSpPr/>
          <p:nvPr/>
        </p:nvSpPr>
        <p:spPr>
          <a:xfrm>
            <a:off x="640080" y="6601968"/>
            <a:ext cx="10911535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WSL Scheduling • Slide 7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640080" y="1005840"/>
            <a:ext cx="3520440" cy="318964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  <a:effectLst>
            <a:outerShdw blurRad="25400" dist="12700" dir="27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7"/>
          <p:cNvSpPr/>
          <p:nvPr/>
        </p:nvSpPr>
        <p:spPr>
          <a:xfrm>
            <a:off x="640080" y="1005840"/>
            <a:ext cx="3520440" cy="109728"/>
          </a:xfrm>
          <a:prstGeom prst="rect">
            <a:avLst/>
          </a:prstGeom>
          <a:solidFill>
            <a:srgbClr val="0EA5E9"/>
          </a:solidFill>
          <a:ln w="12700" cap="flat" cmpd="sng">
            <a:solidFill>
              <a:srgbClr val="0EA5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7"/>
          <p:cNvSpPr/>
          <p:nvPr/>
        </p:nvSpPr>
        <p:spPr>
          <a:xfrm>
            <a:off x="868680" y="1207008"/>
            <a:ext cx="3063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Data pitfalls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914400" y="1691640"/>
            <a:ext cx="3017520" cy="438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03200" marR="0" lvl="0" indent="-20320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00"/>
              <a:buFont typeface="Calibri"/>
              <a:buChar char="•"/>
            </a:pPr>
            <a:r>
              <a:rPr lang="en-US" sz="2400" b="0" i="0" u="none" strike="noStrike" cap="none" dirty="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Distance table was upper-triangular.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3200" marR="0" lvl="0" indent="-20320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00"/>
              <a:buFont typeface="Calibri"/>
              <a:buChar char="•"/>
            </a:pPr>
            <a:r>
              <a:rPr lang="en-US" sz="2400" b="0" i="0" u="none" strike="noStrike" cap="none" dirty="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Early versions hit missing-key errors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3200" marR="0" lvl="0" indent="-20320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00"/>
              <a:buFont typeface="Calibri"/>
              <a:buChar char="•"/>
            </a:pPr>
            <a:r>
              <a:rPr lang="en-US" sz="2400" b="0" i="0" u="none" strike="noStrike" cap="none" dirty="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Fix: build symmetric </a:t>
            </a:r>
            <a:r>
              <a:rPr lang="en-US" sz="2400" b="0" i="0" u="none" strike="noStrike" cap="none" dirty="0" err="1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dist</a:t>
            </a:r>
            <a:r>
              <a:rPr lang="en-US" sz="2400" b="0" i="0" u="none" strike="noStrike" cap="none" dirty="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en-US" sz="2400" b="0" i="0" u="none" strike="noStrike" cap="none" dirty="0" err="1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i,j</a:t>
            </a:r>
            <a:r>
              <a:rPr lang="en-US" sz="2400" b="0" i="0" u="none" strike="noStrike" cap="none" dirty="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) once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7"/>
          <p:cNvSpPr/>
          <p:nvPr/>
        </p:nvSpPr>
        <p:spPr>
          <a:xfrm>
            <a:off x="4407408" y="1005840"/>
            <a:ext cx="3520440" cy="318964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  <a:effectLst>
            <a:outerShdw blurRad="25400" dist="12700" dir="27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7"/>
          <p:cNvSpPr/>
          <p:nvPr/>
        </p:nvSpPr>
        <p:spPr>
          <a:xfrm>
            <a:off x="4407408" y="1005840"/>
            <a:ext cx="3520440" cy="109728"/>
          </a:xfrm>
          <a:prstGeom prst="rect">
            <a:avLst/>
          </a:prstGeom>
          <a:solidFill>
            <a:srgbClr val="1D4ED8"/>
          </a:solidFill>
          <a:ln w="12700" cap="flat" cmpd="sng">
            <a:solidFill>
              <a:srgbClr val="1D4E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7"/>
          <p:cNvSpPr/>
          <p:nvPr/>
        </p:nvSpPr>
        <p:spPr>
          <a:xfrm>
            <a:off x="4636008" y="1207008"/>
            <a:ext cx="3063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Model pitfalls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7"/>
          <p:cNvSpPr/>
          <p:nvPr/>
        </p:nvSpPr>
        <p:spPr>
          <a:xfrm>
            <a:off x="4681728" y="1691640"/>
            <a:ext cx="3017520" cy="438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03200" marR="0" lvl="0" indent="-20320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00"/>
              <a:buFont typeface="Calibri"/>
              <a:buChar char="•"/>
            </a:pPr>
            <a:r>
              <a:rPr lang="en-US" sz="2400" b="0" i="0" u="none" strike="noStrike" cap="none" dirty="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Easy to create infeasible combos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3200" marR="0" lvl="0" indent="-20320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00"/>
              <a:buFont typeface="Calibri"/>
              <a:buChar char="•"/>
            </a:pPr>
            <a:r>
              <a:rPr lang="en-US" sz="2400" b="0" i="0" u="none" strike="noStrike" cap="none" dirty="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Fix: add constraints incrementally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3200" marR="0" lvl="0" indent="-20320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00"/>
              <a:buFont typeface="Calibri"/>
              <a:buChar char="•"/>
            </a:pPr>
            <a:r>
              <a:rPr lang="en-US" sz="2400" b="0" i="0" u="none" strike="noStrike" cap="none" dirty="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Use conflict checks when infeasible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8174736" y="1005840"/>
            <a:ext cx="3520440" cy="318964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  <a:effectLst>
            <a:outerShdw blurRad="25400" dist="12700" dir="27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7"/>
          <p:cNvSpPr/>
          <p:nvPr/>
        </p:nvSpPr>
        <p:spPr>
          <a:xfrm>
            <a:off x="8174736" y="1005840"/>
            <a:ext cx="3520440" cy="109728"/>
          </a:xfrm>
          <a:prstGeom prst="rect">
            <a:avLst/>
          </a:prstGeom>
          <a:solidFill>
            <a:srgbClr val="7C3AED"/>
          </a:solidFill>
          <a:ln w="1270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7"/>
          <p:cNvSpPr/>
          <p:nvPr/>
        </p:nvSpPr>
        <p:spPr>
          <a:xfrm>
            <a:off x="8403336" y="1207008"/>
            <a:ext cx="3063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Hardening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7"/>
          <p:cNvSpPr/>
          <p:nvPr/>
        </p:nvSpPr>
        <p:spPr>
          <a:xfrm>
            <a:off x="8449056" y="1691640"/>
            <a:ext cx="3017520" cy="438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03200" marR="0" lvl="0" indent="-20320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00"/>
              <a:buFont typeface="Calibri"/>
              <a:buChar char="•"/>
            </a:pPr>
            <a:r>
              <a:rPr lang="en-US" sz="2000" b="0" i="0" u="none" strike="noStrike" cap="none" dirty="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Wrote a validator: counts + opponents + patterns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3200" marR="0" lvl="0" indent="-20320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00"/>
              <a:buFont typeface="Calibri"/>
              <a:buChar char="•"/>
            </a:pPr>
            <a:r>
              <a:rPr lang="en-US" sz="2000" b="0" i="0" u="none" strike="noStrike" cap="none" dirty="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Unit checks for TV games and byes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3200" marR="0" lvl="0" indent="-20320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00"/>
              <a:buFont typeface="Calibri"/>
              <a:buChar char="•"/>
            </a:pPr>
            <a:r>
              <a:rPr lang="en-US" sz="2000" b="0" i="0" u="none" strike="noStrike" cap="none" dirty="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Exported clean “HOME AWAY WEEK” file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F5F33A4-E681-853B-5995-7F86FD18A36B}"/>
              </a:ext>
            </a:extLst>
          </p:cNvPr>
          <p:cNvSpPr txBox="1"/>
          <p:nvPr/>
        </p:nvSpPr>
        <p:spPr>
          <a:xfrm>
            <a:off x="868679" y="4542955"/>
            <a:ext cx="7871909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rgbClr val="111827"/>
                </a:solidFill>
                <a:latin typeface="Calibri"/>
                <a:cs typeface="Calibri"/>
                <a:sym typeface="Calibri"/>
              </a:rPr>
              <a:t>Future Work?</a:t>
            </a:r>
          </a:p>
          <a:p>
            <a:endParaRPr lang="en-US" sz="2400" dirty="0">
              <a:solidFill>
                <a:srgbClr val="374151"/>
              </a:solidFill>
              <a:latin typeface="Calibri"/>
              <a:cs typeface="Calibri"/>
              <a:sym typeface="Calibri"/>
            </a:endParaRPr>
          </a:p>
          <a:p>
            <a:r>
              <a:rPr lang="en-US" sz="2400" dirty="0">
                <a:solidFill>
                  <a:srgbClr val="374151"/>
                </a:solidFill>
                <a:latin typeface="Calibri"/>
                <a:cs typeface="Calibri"/>
                <a:sym typeface="Calibri"/>
              </a:rPr>
              <a:t>What if ICE plays back-to-back away games at DEN and SWE?</a:t>
            </a:r>
            <a:endParaRPr lang="en-US" sz="2400" dirty="0">
              <a:solidFill>
                <a:srgbClr val="374151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9">
          <a:extLst>
            <a:ext uri="{FF2B5EF4-FFF2-40B4-BE49-F238E27FC236}">
              <a16:creationId xmlns:a16="http://schemas.microsoft.com/office/drawing/2014/main" id="{F36C768D-28BC-AD51-18C3-873D441AFD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7">
            <a:extLst>
              <a:ext uri="{FF2B5EF4-FFF2-40B4-BE49-F238E27FC236}">
                <a16:creationId xmlns:a16="http://schemas.microsoft.com/office/drawing/2014/main" id="{D978F3D7-7084-D2FA-D9BB-62CB0C224A3D}"/>
              </a:ext>
            </a:extLst>
          </p:cNvPr>
          <p:cNvSpPr/>
          <p:nvPr/>
        </p:nvSpPr>
        <p:spPr>
          <a:xfrm>
            <a:off x="0" y="310896"/>
            <a:ext cx="12191695" cy="65836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7">
            <a:extLst>
              <a:ext uri="{FF2B5EF4-FFF2-40B4-BE49-F238E27FC236}">
                <a16:creationId xmlns:a16="http://schemas.microsoft.com/office/drawing/2014/main" id="{C5AA499D-FFA4-67B2-BB46-94D63654837A}"/>
              </a:ext>
            </a:extLst>
          </p:cNvPr>
          <p:cNvSpPr/>
          <p:nvPr/>
        </p:nvSpPr>
        <p:spPr>
          <a:xfrm>
            <a:off x="640080" y="109728"/>
            <a:ext cx="86868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200"/>
              <a:buFont typeface="Calibri"/>
              <a:buNone/>
            </a:pPr>
            <a:endParaRPr sz="2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7">
            <a:extLst>
              <a:ext uri="{FF2B5EF4-FFF2-40B4-BE49-F238E27FC236}">
                <a16:creationId xmlns:a16="http://schemas.microsoft.com/office/drawing/2014/main" id="{8ABAAFC2-9EE2-0B6B-CD19-F9BEF6DEB086}"/>
              </a:ext>
            </a:extLst>
          </p:cNvPr>
          <p:cNvSpPr/>
          <p:nvPr/>
        </p:nvSpPr>
        <p:spPr>
          <a:xfrm>
            <a:off x="640080" y="402336"/>
            <a:ext cx="9601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7">
            <a:extLst>
              <a:ext uri="{FF2B5EF4-FFF2-40B4-BE49-F238E27FC236}">
                <a16:creationId xmlns:a16="http://schemas.microsoft.com/office/drawing/2014/main" id="{DA0AC093-EA8F-574E-AC44-7AED31045324}"/>
              </a:ext>
            </a:extLst>
          </p:cNvPr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7">
            <a:extLst>
              <a:ext uri="{FF2B5EF4-FFF2-40B4-BE49-F238E27FC236}">
                <a16:creationId xmlns:a16="http://schemas.microsoft.com/office/drawing/2014/main" id="{B1B66625-21EA-F247-B262-8B9ABC3CC3B1}"/>
              </a:ext>
            </a:extLst>
          </p:cNvPr>
          <p:cNvSpPr/>
          <p:nvPr/>
        </p:nvSpPr>
        <p:spPr>
          <a:xfrm>
            <a:off x="640080" y="6601968"/>
            <a:ext cx="10911535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WSL Scheduling • Slide 7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7">
            <a:extLst>
              <a:ext uri="{FF2B5EF4-FFF2-40B4-BE49-F238E27FC236}">
                <a16:creationId xmlns:a16="http://schemas.microsoft.com/office/drawing/2014/main" id="{BFACD1AB-FBB0-884E-DCCB-F6A924EA0313}"/>
              </a:ext>
            </a:extLst>
          </p:cNvPr>
          <p:cNvSpPr/>
          <p:nvPr/>
        </p:nvSpPr>
        <p:spPr>
          <a:xfrm>
            <a:off x="1022044" y="1060704"/>
            <a:ext cx="10683240" cy="5212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  <a:effectLst>
            <a:outerShdw blurRad="25400" dist="12700" dir="27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b="1" dirty="0">
                <a:solidFill>
                  <a:srgbClr val="111827"/>
                </a:solidFill>
                <a:latin typeface="Calibri"/>
                <a:cs typeface="Calibri"/>
              </a:rPr>
              <a:t>THANK YOU</a:t>
            </a:r>
            <a:br>
              <a:rPr lang="en-US" sz="7200" b="1" dirty="0">
                <a:solidFill>
                  <a:srgbClr val="111827"/>
                </a:solidFill>
                <a:latin typeface="Calibri"/>
                <a:cs typeface="Calibri"/>
              </a:rPr>
            </a:br>
            <a:br>
              <a:rPr lang="en-US" sz="7200" b="1" dirty="0">
                <a:solidFill>
                  <a:srgbClr val="111827"/>
                </a:solidFill>
                <a:latin typeface="Calibri"/>
                <a:cs typeface="Calibri"/>
              </a:rPr>
            </a:br>
            <a:r>
              <a:rPr lang="en-US" sz="7200" b="1" dirty="0">
                <a:solidFill>
                  <a:srgbClr val="111827"/>
                </a:solidFill>
                <a:latin typeface="Calibri"/>
                <a:cs typeface="Calibri"/>
              </a:rPr>
              <a:t>QUESTIONS?</a:t>
            </a:r>
            <a:endParaRPr sz="7200" b="1" dirty="0">
              <a:solidFill>
                <a:srgbClr val="111827"/>
              </a:solidFill>
              <a:latin typeface="Calibri"/>
              <a:cs typeface="Calibri"/>
            </a:endParaRPr>
          </a:p>
        </p:txBody>
      </p:sp>
      <p:sp>
        <p:nvSpPr>
          <p:cNvPr id="167" name="Google Shape;167;p7">
            <a:extLst>
              <a:ext uri="{FF2B5EF4-FFF2-40B4-BE49-F238E27FC236}">
                <a16:creationId xmlns:a16="http://schemas.microsoft.com/office/drawing/2014/main" id="{48627B4C-3186-4E94-187C-D2A2A35F9542}"/>
              </a:ext>
            </a:extLst>
          </p:cNvPr>
          <p:cNvSpPr/>
          <p:nvPr/>
        </p:nvSpPr>
        <p:spPr>
          <a:xfrm>
            <a:off x="868680" y="1207008"/>
            <a:ext cx="3063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00"/>
              <a:buFont typeface="Calibri"/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7">
            <a:extLst>
              <a:ext uri="{FF2B5EF4-FFF2-40B4-BE49-F238E27FC236}">
                <a16:creationId xmlns:a16="http://schemas.microsoft.com/office/drawing/2014/main" id="{4CBB5583-5A4C-4B36-1866-6FC6B604D7AE}"/>
              </a:ext>
            </a:extLst>
          </p:cNvPr>
          <p:cNvSpPr/>
          <p:nvPr/>
        </p:nvSpPr>
        <p:spPr>
          <a:xfrm>
            <a:off x="914400" y="1691640"/>
            <a:ext cx="3017520" cy="438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00"/>
            </a:pP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7">
            <a:extLst>
              <a:ext uri="{FF2B5EF4-FFF2-40B4-BE49-F238E27FC236}">
                <a16:creationId xmlns:a16="http://schemas.microsoft.com/office/drawing/2014/main" id="{51E63426-32AB-A9C8-427B-D1D32F1AD374}"/>
              </a:ext>
            </a:extLst>
          </p:cNvPr>
          <p:cNvSpPr/>
          <p:nvPr/>
        </p:nvSpPr>
        <p:spPr>
          <a:xfrm>
            <a:off x="4636008" y="1207008"/>
            <a:ext cx="3063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00"/>
              <a:buFont typeface="Calibri"/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7">
            <a:extLst>
              <a:ext uri="{FF2B5EF4-FFF2-40B4-BE49-F238E27FC236}">
                <a16:creationId xmlns:a16="http://schemas.microsoft.com/office/drawing/2014/main" id="{19FE4D68-526E-2D17-B4F7-2631CD50F926}"/>
              </a:ext>
            </a:extLst>
          </p:cNvPr>
          <p:cNvSpPr/>
          <p:nvPr/>
        </p:nvSpPr>
        <p:spPr>
          <a:xfrm>
            <a:off x="4681728" y="1691640"/>
            <a:ext cx="3017520" cy="438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00"/>
            </a:pP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7">
            <a:extLst>
              <a:ext uri="{FF2B5EF4-FFF2-40B4-BE49-F238E27FC236}">
                <a16:creationId xmlns:a16="http://schemas.microsoft.com/office/drawing/2014/main" id="{F28D0D5A-8CAA-9AC1-E6BF-6C86211552F8}"/>
              </a:ext>
            </a:extLst>
          </p:cNvPr>
          <p:cNvSpPr/>
          <p:nvPr/>
        </p:nvSpPr>
        <p:spPr>
          <a:xfrm>
            <a:off x="8403336" y="1207008"/>
            <a:ext cx="3063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00"/>
              <a:buFont typeface="Calibri"/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7">
            <a:extLst>
              <a:ext uri="{FF2B5EF4-FFF2-40B4-BE49-F238E27FC236}">
                <a16:creationId xmlns:a16="http://schemas.microsoft.com/office/drawing/2014/main" id="{05F987F0-4B3E-BD02-7CD8-57814ED91F56}"/>
              </a:ext>
            </a:extLst>
          </p:cNvPr>
          <p:cNvSpPr/>
          <p:nvPr/>
        </p:nvSpPr>
        <p:spPr>
          <a:xfrm>
            <a:off x="8449056" y="1691640"/>
            <a:ext cx="3017520" cy="438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03200" marR="0" lvl="0" indent="-20320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00"/>
              <a:buFont typeface="Calibri"/>
              <a:buChar char="•"/>
            </a:pP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638471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1409</TotalTime>
  <Words>1781</Words>
  <Application>Microsoft Macintosh PowerPoint</Application>
  <PresentationFormat>Widescreen</PresentationFormat>
  <Paragraphs>273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Cambria Math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Ashutosh Srivastava</dc:creator>
  <cp:lastModifiedBy>Ashutosh -</cp:lastModifiedBy>
  <cp:revision>8</cp:revision>
  <dcterms:created xsi:type="dcterms:W3CDTF">2026-02-18T18:16:18Z</dcterms:created>
  <dcterms:modified xsi:type="dcterms:W3CDTF">2026-02-28T14:45:20Z</dcterms:modified>
</cp:coreProperties>
</file>